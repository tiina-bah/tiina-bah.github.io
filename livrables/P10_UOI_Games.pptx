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6"/>
  </p:notesMasterIdLst>
  <p:sldIdLst>
    <p:sldId id="268" r:id="rId3"/>
    <p:sldId id="257" r:id="rId4"/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30DA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48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80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8" name="Google Shape;22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867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4" name="Google Shape;834;p51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51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6" name="Google Shape;836;p51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7" name="Google Shape;837;p51"/>
          <p:cNvGrpSpPr/>
          <p:nvPr/>
        </p:nvGrpSpPr>
        <p:grpSpPr>
          <a:xfrm>
            <a:off x="-534234" y="2591589"/>
            <a:ext cx="3563418" cy="3276021"/>
            <a:chOff x="4765450" y="2817950"/>
            <a:chExt cx="894275" cy="822150"/>
          </a:xfrm>
        </p:grpSpPr>
        <p:sp>
          <p:nvSpPr>
            <p:cNvPr id="838" name="Google Shape;838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51"/>
          <p:cNvGrpSpPr/>
          <p:nvPr/>
        </p:nvGrpSpPr>
        <p:grpSpPr>
          <a:xfrm>
            <a:off x="666212" y="4424016"/>
            <a:ext cx="1162531" cy="1161127"/>
            <a:chOff x="7253149" y="3334154"/>
            <a:chExt cx="1162531" cy="1161127"/>
          </a:xfrm>
        </p:grpSpPr>
        <p:sp>
          <p:nvSpPr>
            <p:cNvPr id="843" name="Google Shape;843;p51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51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845" name="Google Shape;845;p51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1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7" name="Google Shape;847;p51"/>
          <p:cNvGrpSpPr/>
          <p:nvPr/>
        </p:nvGrpSpPr>
        <p:grpSpPr>
          <a:xfrm>
            <a:off x="7582096" y="290150"/>
            <a:ext cx="1162705" cy="962710"/>
            <a:chOff x="2210400" y="2558550"/>
            <a:chExt cx="971025" cy="804000"/>
          </a:xfrm>
        </p:grpSpPr>
        <p:sp>
          <p:nvSpPr>
            <p:cNvPr id="848" name="Google Shape;848;p5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51"/>
          <p:cNvGrpSpPr/>
          <p:nvPr/>
        </p:nvGrpSpPr>
        <p:grpSpPr>
          <a:xfrm>
            <a:off x="7415915" y="125143"/>
            <a:ext cx="3960194" cy="4417325"/>
            <a:chOff x="4665875" y="2544104"/>
            <a:chExt cx="993850" cy="1108571"/>
          </a:xfrm>
        </p:grpSpPr>
        <p:sp>
          <p:nvSpPr>
            <p:cNvPr id="857" name="Google Shape;857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665875" y="2544104"/>
              <a:ext cx="316425" cy="316425"/>
            </a:xfrm>
            <a:custGeom>
              <a:avLst/>
              <a:gdLst/>
              <a:ahLst/>
              <a:cxnLst/>
              <a:rect l="l" t="t" r="r" b="b"/>
              <a:pathLst>
                <a:path w="12657" h="12657" extrusionOk="0">
                  <a:moveTo>
                    <a:pt x="6329" y="1"/>
                  </a:moveTo>
                  <a:lnTo>
                    <a:pt x="1" y="6328"/>
                  </a:lnTo>
                  <a:lnTo>
                    <a:pt x="6329" y="12656"/>
                  </a:lnTo>
                  <a:lnTo>
                    <a:pt x="12656" y="6328"/>
                  </a:lnTo>
                  <a:lnTo>
                    <a:pt x="632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920850" y="3013825"/>
              <a:ext cx="358275" cy="358275"/>
            </a:xfrm>
            <a:custGeom>
              <a:avLst/>
              <a:gdLst/>
              <a:ahLst/>
              <a:cxnLst/>
              <a:rect l="l" t="t" r="r" b="b"/>
              <a:pathLst>
                <a:path w="14331" h="14331" extrusionOk="0">
                  <a:moveTo>
                    <a:pt x="7165" y="1"/>
                  </a:moveTo>
                  <a:lnTo>
                    <a:pt x="0" y="7166"/>
                  </a:lnTo>
                  <a:lnTo>
                    <a:pt x="7165" y="14331"/>
                  </a:lnTo>
                  <a:lnTo>
                    <a:pt x="14331" y="7166"/>
                  </a:lnTo>
                  <a:lnTo>
                    <a:pt x="7165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1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7" name="Google Shape;867;p51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1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9" name="Google Shape;869;p51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40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081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>
            <a:spLocks noGrp="1"/>
          </p:cNvSpPr>
          <p:nvPr>
            <p:ph type="title"/>
          </p:nvPr>
        </p:nvSpPr>
        <p:spPr>
          <a:xfrm>
            <a:off x="1506398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ubTitle" idx="1"/>
          </p:nvPr>
        </p:nvSpPr>
        <p:spPr>
          <a:xfrm>
            <a:off x="1506390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title" idx="3"/>
          </p:nvPr>
        </p:nvSpPr>
        <p:spPr>
          <a:xfrm>
            <a:off x="1506523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title" idx="4"/>
          </p:nvPr>
        </p:nvSpPr>
        <p:spPr>
          <a:xfrm>
            <a:off x="730469" y="342502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ubTitle" idx="5"/>
          </p:nvPr>
        </p:nvSpPr>
        <p:spPr>
          <a:xfrm>
            <a:off x="1506514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title" idx="6"/>
          </p:nvPr>
        </p:nvSpPr>
        <p:spPr>
          <a:xfrm>
            <a:off x="5045226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subTitle" idx="8"/>
          </p:nvPr>
        </p:nvSpPr>
        <p:spPr>
          <a:xfrm>
            <a:off x="5045218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title" idx="9"/>
          </p:nvPr>
        </p:nvSpPr>
        <p:spPr>
          <a:xfrm>
            <a:off x="4282125" y="342502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44"/>
          <p:cNvGrpSpPr/>
          <p:nvPr/>
        </p:nvGrpSpPr>
        <p:grpSpPr>
          <a:xfrm>
            <a:off x="-3302090" y="-450720"/>
            <a:ext cx="4015313" cy="3884503"/>
            <a:chOff x="5440750" y="1669400"/>
            <a:chExt cx="971525" cy="939875"/>
          </a:xfrm>
        </p:grpSpPr>
        <p:sp>
          <p:nvSpPr>
            <p:cNvPr id="148" name="Google Shape;148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4"/>
          <p:cNvSpPr/>
          <p:nvPr/>
        </p:nvSpPr>
        <p:spPr>
          <a:xfrm>
            <a:off x="7013780" y="2081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4"/>
          <p:cNvGrpSpPr/>
          <p:nvPr/>
        </p:nvGrpSpPr>
        <p:grpSpPr>
          <a:xfrm>
            <a:off x="7000981" y="195816"/>
            <a:ext cx="849275" cy="848250"/>
            <a:chOff x="2651171" y="2397773"/>
            <a:chExt cx="2099568" cy="2097033"/>
          </a:xfrm>
        </p:grpSpPr>
        <p:sp>
          <p:nvSpPr>
            <p:cNvPr id="269" name="Google Shape;269;p44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44"/>
          <p:cNvGrpSpPr/>
          <p:nvPr/>
        </p:nvGrpSpPr>
        <p:grpSpPr>
          <a:xfrm>
            <a:off x="7263610" y="-297378"/>
            <a:ext cx="2216073" cy="1834889"/>
            <a:chOff x="2210400" y="2558550"/>
            <a:chExt cx="971025" cy="804000"/>
          </a:xfrm>
        </p:grpSpPr>
        <p:sp>
          <p:nvSpPr>
            <p:cNvPr id="272" name="Google Shape;272;p4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5978160" y="2286430"/>
            <a:ext cx="4015313" cy="3884503"/>
            <a:chOff x="5440750" y="1669400"/>
            <a:chExt cx="971525" cy="939875"/>
          </a:xfrm>
        </p:grpSpPr>
        <p:sp>
          <p:nvSpPr>
            <p:cNvPr id="281" name="Google Shape;281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>
            <a:spLocks noGrp="1"/>
          </p:cNvSpPr>
          <p:nvPr>
            <p:ph type="title" idx="13"/>
          </p:nvPr>
        </p:nvSpPr>
        <p:spPr>
          <a:xfrm>
            <a:off x="5045351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4"/>
          </p:nvPr>
        </p:nvSpPr>
        <p:spPr>
          <a:xfrm>
            <a:off x="5045342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63174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/>
          <p:nvPr/>
        </p:nvSpPr>
        <p:spPr>
          <a:xfrm>
            <a:off x="7422442" y="35027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45"/>
          <p:cNvGrpSpPr/>
          <p:nvPr/>
        </p:nvGrpSpPr>
        <p:grpSpPr>
          <a:xfrm>
            <a:off x="5868426" y="-153461"/>
            <a:ext cx="3931972" cy="3255637"/>
            <a:chOff x="2210400" y="2558550"/>
            <a:chExt cx="971025" cy="804000"/>
          </a:xfrm>
        </p:grpSpPr>
        <p:sp>
          <p:nvSpPr>
            <p:cNvPr id="406" name="Google Shape;406;p45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5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5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5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5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5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5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5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45"/>
          <p:cNvGrpSpPr/>
          <p:nvPr/>
        </p:nvGrpSpPr>
        <p:grpSpPr>
          <a:xfrm>
            <a:off x="5637046" y="992950"/>
            <a:ext cx="1162705" cy="962710"/>
            <a:chOff x="2210400" y="2558550"/>
            <a:chExt cx="971025" cy="804000"/>
          </a:xfrm>
        </p:grpSpPr>
        <p:sp>
          <p:nvSpPr>
            <p:cNvPr id="415" name="Google Shape;415;p45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5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5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45"/>
          <p:cNvGrpSpPr/>
          <p:nvPr/>
        </p:nvGrpSpPr>
        <p:grpSpPr>
          <a:xfrm>
            <a:off x="7253149" y="3334154"/>
            <a:ext cx="1162531" cy="1161127"/>
            <a:chOff x="2651171" y="2397773"/>
            <a:chExt cx="2099568" cy="2097033"/>
          </a:xfrm>
        </p:grpSpPr>
        <p:sp>
          <p:nvSpPr>
            <p:cNvPr id="424" name="Google Shape;424;p45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5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45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427" name="Google Shape;427;p45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5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45"/>
          <p:cNvGrpSpPr/>
          <p:nvPr/>
        </p:nvGrpSpPr>
        <p:grpSpPr>
          <a:xfrm>
            <a:off x="1701728" y="4085003"/>
            <a:ext cx="1067211" cy="1065922"/>
            <a:chOff x="2651171" y="2397773"/>
            <a:chExt cx="2099568" cy="2097033"/>
          </a:xfrm>
        </p:grpSpPr>
        <p:sp>
          <p:nvSpPr>
            <p:cNvPr id="437" name="Google Shape;437;p45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45"/>
          <p:cNvSpPr txBox="1">
            <a:spLocks noGrp="1"/>
          </p:cNvSpPr>
          <p:nvPr>
            <p:ph type="title"/>
          </p:nvPr>
        </p:nvSpPr>
        <p:spPr>
          <a:xfrm>
            <a:off x="2074375" y="2993651"/>
            <a:ext cx="465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1" name="Google Shape;441;p45"/>
          <p:cNvSpPr txBox="1">
            <a:spLocks noGrp="1"/>
          </p:cNvSpPr>
          <p:nvPr>
            <p:ph type="subTitle" idx="1"/>
          </p:nvPr>
        </p:nvSpPr>
        <p:spPr>
          <a:xfrm>
            <a:off x="2074375" y="1438075"/>
            <a:ext cx="5385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4808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1"/>
          </p:nvPr>
        </p:nvSpPr>
        <p:spPr>
          <a:xfrm>
            <a:off x="5449425" y="3203575"/>
            <a:ext cx="2998800" cy="604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5" name="Google Shape;445;p4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46" name="Google Shape;446;p46"/>
          <p:cNvGrpSpPr/>
          <p:nvPr/>
        </p:nvGrpSpPr>
        <p:grpSpPr>
          <a:xfrm rot="10800000" flipH="1">
            <a:off x="-1432565" y="-125795"/>
            <a:ext cx="4015313" cy="3884503"/>
            <a:chOff x="5440750" y="1669400"/>
            <a:chExt cx="971525" cy="939875"/>
          </a:xfrm>
        </p:grpSpPr>
        <p:sp>
          <p:nvSpPr>
            <p:cNvPr id="447" name="Google Shape;447;p46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6"/>
          <p:cNvGrpSpPr/>
          <p:nvPr/>
        </p:nvGrpSpPr>
        <p:grpSpPr>
          <a:xfrm>
            <a:off x="1147477" y="2947974"/>
            <a:ext cx="2872292" cy="2378232"/>
            <a:chOff x="2210400" y="2558550"/>
            <a:chExt cx="971025" cy="804000"/>
          </a:xfrm>
        </p:grpSpPr>
        <p:sp>
          <p:nvSpPr>
            <p:cNvPr id="567" name="Google Shape;567;p4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1392756" y="169091"/>
            <a:ext cx="849275" cy="848250"/>
            <a:chOff x="2651171" y="2397773"/>
            <a:chExt cx="2099568" cy="2097033"/>
          </a:xfrm>
        </p:grpSpPr>
        <p:sp>
          <p:nvSpPr>
            <p:cNvPr id="576" name="Google Shape;576;p46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4314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1" name="Google Shape;581;p47"/>
          <p:cNvGrpSpPr/>
          <p:nvPr/>
        </p:nvGrpSpPr>
        <p:grpSpPr>
          <a:xfrm>
            <a:off x="7407435" y="2879891"/>
            <a:ext cx="849275" cy="848250"/>
            <a:chOff x="8751122" y="1283566"/>
            <a:chExt cx="849275" cy="848250"/>
          </a:xfrm>
        </p:grpSpPr>
        <p:sp>
          <p:nvSpPr>
            <p:cNvPr id="582" name="Google Shape;582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584" name="Google Shape;584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6" name="Google Shape;586;p47"/>
          <p:cNvGrpSpPr/>
          <p:nvPr/>
        </p:nvGrpSpPr>
        <p:grpSpPr>
          <a:xfrm flipH="1">
            <a:off x="5896360" y="1526509"/>
            <a:ext cx="4030417" cy="3337154"/>
            <a:chOff x="3573297" y="232872"/>
            <a:chExt cx="5470164" cy="4529254"/>
          </a:xfrm>
        </p:grpSpPr>
        <p:sp>
          <p:nvSpPr>
            <p:cNvPr id="587" name="Google Shape;587;p4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 flipH="1">
            <a:off x="6009660" y="227499"/>
            <a:ext cx="2872292" cy="2378232"/>
            <a:chOff x="2210400" y="2558550"/>
            <a:chExt cx="971025" cy="804000"/>
          </a:xfrm>
        </p:grpSpPr>
        <p:sp>
          <p:nvSpPr>
            <p:cNvPr id="596" name="Google Shape;596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47"/>
          <p:cNvGrpSpPr/>
          <p:nvPr/>
        </p:nvGrpSpPr>
        <p:grpSpPr>
          <a:xfrm flipH="1">
            <a:off x="7973021" y="1064981"/>
            <a:ext cx="849356" cy="703259"/>
            <a:chOff x="2210400" y="2558550"/>
            <a:chExt cx="971025" cy="804000"/>
          </a:xfrm>
        </p:grpSpPr>
        <p:sp>
          <p:nvSpPr>
            <p:cNvPr id="605" name="Google Shape;605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47"/>
          <p:cNvGrpSpPr/>
          <p:nvPr/>
        </p:nvGrpSpPr>
        <p:grpSpPr>
          <a:xfrm>
            <a:off x="8979722" y="1283566"/>
            <a:ext cx="849275" cy="848250"/>
            <a:chOff x="8751122" y="1283566"/>
            <a:chExt cx="849275" cy="848250"/>
          </a:xfrm>
        </p:grpSpPr>
        <p:sp>
          <p:nvSpPr>
            <p:cNvPr id="614" name="Google Shape;614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16" name="Google Shape;616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47"/>
          <p:cNvSpPr/>
          <p:nvPr/>
        </p:nvSpPr>
        <p:spPr>
          <a:xfrm flipH="1">
            <a:off x="6112238" y="36430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9971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21" name="Google Shape;621;p48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622" name="Google Shape;622;p4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-127072" y="4085003"/>
            <a:ext cx="1067211" cy="1065922"/>
            <a:chOff x="2651171" y="2397773"/>
            <a:chExt cx="2099568" cy="2097033"/>
          </a:xfrm>
        </p:grpSpPr>
        <p:sp>
          <p:nvSpPr>
            <p:cNvPr id="646" name="Google Shape;646;p48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7249668" y="4045148"/>
            <a:ext cx="572715" cy="572715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0"/>
                </a:moveTo>
                <a:lnTo>
                  <a:pt x="0" y="6197"/>
                </a:lnTo>
                <a:lnTo>
                  <a:pt x="6179" y="12376"/>
                </a:lnTo>
                <a:lnTo>
                  <a:pt x="12376" y="6197"/>
                </a:lnTo>
                <a:lnTo>
                  <a:pt x="6179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48"/>
          <p:cNvGrpSpPr/>
          <p:nvPr/>
        </p:nvGrpSpPr>
        <p:grpSpPr>
          <a:xfrm>
            <a:off x="7009646" y="2171158"/>
            <a:ext cx="3966057" cy="4359080"/>
            <a:chOff x="5440750" y="1541475"/>
            <a:chExt cx="971525" cy="1067800"/>
          </a:xfrm>
        </p:grpSpPr>
        <p:sp>
          <p:nvSpPr>
            <p:cNvPr id="651" name="Google Shape;651;p48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5989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9"/>
          <p:cNvGrpSpPr/>
          <p:nvPr/>
        </p:nvGrpSpPr>
        <p:grpSpPr>
          <a:xfrm>
            <a:off x="2787991" y="1287889"/>
            <a:ext cx="3563418" cy="3276021"/>
            <a:chOff x="4765450" y="2817950"/>
            <a:chExt cx="894275" cy="822150"/>
          </a:xfrm>
        </p:grpSpPr>
        <p:sp>
          <p:nvSpPr>
            <p:cNvPr id="666" name="Google Shape;666;p4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49"/>
          <p:cNvGrpSpPr/>
          <p:nvPr/>
        </p:nvGrpSpPr>
        <p:grpSpPr>
          <a:xfrm>
            <a:off x="7185910" y="-217751"/>
            <a:ext cx="2872292" cy="2378232"/>
            <a:chOff x="2210400" y="2558550"/>
            <a:chExt cx="971025" cy="804000"/>
          </a:xfrm>
        </p:grpSpPr>
        <p:sp>
          <p:nvSpPr>
            <p:cNvPr id="671" name="Google Shape;671;p4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49"/>
          <p:cNvGrpSpPr/>
          <p:nvPr/>
        </p:nvGrpSpPr>
        <p:grpSpPr>
          <a:xfrm flipH="1">
            <a:off x="8813326" y="-9"/>
            <a:ext cx="849275" cy="848250"/>
            <a:chOff x="8751122" y="1283566"/>
            <a:chExt cx="849275" cy="848250"/>
          </a:xfrm>
        </p:grpSpPr>
        <p:sp>
          <p:nvSpPr>
            <p:cNvPr id="680" name="Google Shape;680;p49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49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82" name="Google Shape;682;p49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9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4" name="Google Shape;684;p49"/>
          <p:cNvGrpSpPr/>
          <p:nvPr/>
        </p:nvGrpSpPr>
        <p:grpSpPr>
          <a:xfrm>
            <a:off x="-259090" y="4167881"/>
            <a:ext cx="1142271" cy="1145681"/>
            <a:chOff x="6167975" y="2118400"/>
            <a:chExt cx="150775" cy="151225"/>
          </a:xfrm>
        </p:grpSpPr>
        <p:sp>
          <p:nvSpPr>
            <p:cNvPr id="685" name="Google Shape;685;p49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49"/>
          <p:cNvGrpSpPr/>
          <p:nvPr/>
        </p:nvGrpSpPr>
        <p:grpSpPr>
          <a:xfrm>
            <a:off x="-269226" y="3517179"/>
            <a:ext cx="1162531" cy="1161127"/>
            <a:chOff x="2651171" y="2397773"/>
            <a:chExt cx="2099568" cy="2097033"/>
          </a:xfrm>
        </p:grpSpPr>
        <p:sp>
          <p:nvSpPr>
            <p:cNvPr id="688" name="Google Shape;688;p49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49"/>
          <p:cNvSpPr/>
          <p:nvPr/>
        </p:nvSpPr>
        <p:spPr>
          <a:xfrm>
            <a:off x="7472262" y="127554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9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2" name="Google Shape;692;p49"/>
          <p:cNvSpPr txBox="1">
            <a:spLocks noGrp="1"/>
          </p:cNvSpPr>
          <p:nvPr>
            <p:ph type="subTitle" idx="1"/>
          </p:nvPr>
        </p:nvSpPr>
        <p:spPr>
          <a:xfrm>
            <a:off x="8832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49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ubTitle" idx="3"/>
          </p:nvPr>
        </p:nvSpPr>
        <p:spPr>
          <a:xfrm>
            <a:off x="8832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49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49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subTitle" idx="13"/>
          </p:nvPr>
        </p:nvSpPr>
        <p:spPr>
          <a:xfrm>
            <a:off x="60927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49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3" name="Google Shape;703;p49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86371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856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5"/>
          <p:cNvSpPr/>
          <p:nvPr/>
        </p:nvSpPr>
        <p:spPr>
          <a:xfrm flipH="1">
            <a:off x="102342" y="102777"/>
            <a:ext cx="724127" cy="72630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4" name="Google Shape;2154;p75"/>
          <p:cNvGrpSpPr/>
          <p:nvPr/>
        </p:nvGrpSpPr>
        <p:grpSpPr>
          <a:xfrm flipH="1">
            <a:off x="-603882" y="-418180"/>
            <a:ext cx="2136578" cy="1768212"/>
            <a:chOff x="5440750" y="1669400"/>
            <a:chExt cx="971525" cy="804025"/>
          </a:xfrm>
        </p:grpSpPr>
        <p:sp>
          <p:nvSpPr>
            <p:cNvPr id="2155" name="Google Shape;215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75"/>
          <p:cNvGrpSpPr/>
          <p:nvPr/>
        </p:nvGrpSpPr>
        <p:grpSpPr>
          <a:xfrm>
            <a:off x="-1110993" y="1389236"/>
            <a:ext cx="2429466" cy="2063219"/>
            <a:chOff x="4665875" y="2808650"/>
            <a:chExt cx="993850" cy="844025"/>
          </a:xfrm>
        </p:grpSpPr>
        <p:sp>
          <p:nvSpPr>
            <p:cNvPr id="2167" name="Google Shape;2167;p75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75"/>
          <p:cNvGrpSpPr/>
          <p:nvPr/>
        </p:nvGrpSpPr>
        <p:grpSpPr>
          <a:xfrm flipH="1">
            <a:off x="6738226" y="2911751"/>
            <a:ext cx="3525470" cy="3410618"/>
            <a:chOff x="5440750" y="1669400"/>
            <a:chExt cx="971525" cy="939875"/>
          </a:xfrm>
        </p:grpSpPr>
        <p:sp>
          <p:nvSpPr>
            <p:cNvPr id="2175" name="Google Shape;217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7" name="Google Shape;2187;p75"/>
          <p:cNvGrpSpPr/>
          <p:nvPr/>
        </p:nvGrpSpPr>
        <p:grpSpPr>
          <a:xfrm rot="5400000">
            <a:off x="6875511" y="1422360"/>
            <a:ext cx="2695006" cy="2887947"/>
            <a:chOff x="5440750" y="1669400"/>
            <a:chExt cx="975815" cy="1045676"/>
          </a:xfrm>
        </p:grpSpPr>
        <p:sp>
          <p:nvSpPr>
            <p:cNvPr id="2188" name="Google Shape;2188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6107140" y="2405651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8815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1" name="Google Shape;2201;p76"/>
          <p:cNvGrpSpPr/>
          <p:nvPr/>
        </p:nvGrpSpPr>
        <p:grpSpPr>
          <a:xfrm rot="10800000" flipH="1">
            <a:off x="-1215840" y="503176"/>
            <a:ext cx="2872823" cy="2439739"/>
            <a:chOff x="4665875" y="2808650"/>
            <a:chExt cx="993850" cy="844025"/>
          </a:xfrm>
        </p:grpSpPr>
        <p:sp>
          <p:nvSpPr>
            <p:cNvPr id="2202" name="Google Shape;220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6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6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9" name="Google Shape;2209;p76"/>
          <p:cNvGrpSpPr/>
          <p:nvPr/>
        </p:nvGrpSpPr>
        <p:grpSpPr>
          <a:xfrm rot="10800000" flipH="1">
            <a:off x="-309809" y="2691848"/>
            <a:ext cx="2872292" cy="2378232"/>
            <a:chOff x="2210400" y="2558550"/>
            <a:chExt cx="971025" cy="804000"/>
          </a:xfrm>
        </p:grpSpPr>
        <p:sp>
          <p:nvSpPr>
            <p:cNvPr id="2210" name="Google Shape;2210;p7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8" name="Google Shape;2218;p76"/>
          <p:cNvSpPr/>
          <p:nvPr/>
        </p:nvSpPr>
        <p:spPr>
          <a:xfrm rot="10800000" flipH="1">
            <a:off x="-94215" y="308110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6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76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1" name="Google Shape;2221;p76"/>
          <p:cNvGrpSpPr/>
          <p:nvPr/>
        </p:nvGrpSpPr>
        <p:grpSpPr>
          <a:xfrm flipH="1">
            <a:off x="6947190" y="-119799"/>
            <a:ext cx="3563418" cy="3276021"/>
            <a:chOff x="4765450" y="2817950"/>
            <a:chExt cx="894275" cy="822150"/>
          </a:xfrm>
        </p:grpSpPr>
        <p:sp>
          <p:nvSpPr>
            <p:cNvPr id="2222" name="Google Shape;222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9546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6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63716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83" r:id="rId8"/>
    <p:sldLayoutId id="2147483684" r:id="rId9"/>
    <p:sldLayoutId id="214748368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198662" scaled="0"/>
        </a:gra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522358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7200" b="1" dirty="0" err="1">
                <a:latin typeface="+mj-lt"/>
              </a:rPr>
              <a:t>Demande</a:t>
            </a:r>
            <a:r>
              <a:rPr lang="en" sz="7200" b="1" dirty="0">
                <a:latin typeface="+mj-lt"/>
              </a:rPr>
              <a:t> Business</a:t>
            </a:r>
            <a:br>
              <a:rPr lang="en" sz="7200" b="1" dirty="0">
                <a:latin typeface="+mj-lt"/>
              </a:rPr>
            </a:br>
            <a:br>
              <a:rPr lang="en" sz="800" b="1" dirty="0">
                <a:latin typeface="+mj-lt"/>
              </a:rPr>
            </a:br>
            <a:br>
              <a:rPr lang="en" sz="800" b="1" dirty="0">
                <a:latin typeface="+mj-lt"/>
              </a:rPr>
            </a:br>
            <a:r>
              <a:rPr lang="en" sz="3200" b="1" i="1" dirty="0">
                <a:latin typeface="+mj-lt"/>
              </a:rPr>
              <a:t>Segmentation du </a:t>
            </a:r>
            <a:r>
              <a:rPr lang="en" sz="3200" b="1" i="1" dirty="0" err="1">
                <a:latin typeface="+mj-lt"/>
              </a:rPr>
              <a:t>marché</a:t>
            </a:r>
            <a:endParaRPr sz="3200" i="1" dirty="0">
              <a:latin typeface="+mj-lt"/>
            </a:endParaRPr>
          </a:p>
        </p:txBody>
      </p:sp>
      <p:sp>
        <p:nvSpPr>
          <p:cNvPr id="2231" name="Google Shape;2231;p1"/>
          <p:cNvSpPr txBox="1">
            <a:spLocks noGrp="1"/>
          </p:cNvSpPr>
          <p:nvPr>
            <p:ph type="subTitle" idx="1"/>
          </p:nvPr>
        </p:nvSpPr>
        <p:spPr>
          <a:xfrm>
            <a:off x="802815" y="3858127"/>
            <a:ext cx="2338996" cy="33960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05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Modestine BAH – </a:t>
            </a:r>
            <a:r>
              <a:rPr lang="en" sz="1050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  <a:r>
              <a:rPr lang="en" sz="105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10_BIA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9C65E9-9644-CC0A-A450-3FA4B50575F6}"/>
              </a:ext>
            </a:extLst>
          </p:cNvPr>
          <p:cNvSpPr txBox="1"/>
          <p:nvPr/>
        </p:nvSpPr>
        <p:spPr>
          <a:xfrm>
            <a:off x="601578" y="4365141"/>
            <a:ext cx="5358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Projet</a:t>
            </a:r>
            <a:r>
              <a:rPr lang="en-US" sz="1100" i="1" dirty="0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 10 — Business Intelligence Analyst — </a:t>
            </a:r>
            <a:r>
              <a:rPr lang="en-US" sz="1100" i="1" dirty="0" err="1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juin</a:t>
            </a:r>
            <a:r>
              <a:rPr lang="en-US" sz="1100" i="1" dirty="0">
                <a:solidFill>
                  <a:srgbClr val="C1B6DC"/>
                </a:solidFill>
                <a:latin typeface="Calibri" pitchFamily="34" charset="0"/>
                <a:cs typeface="Calibri" pitchFamily="34" charset="-120"/>
              </a:rPr>
              <a:t> 2026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097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00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jeu vidéo en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9848" y="2423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PESTEL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29260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macro du secteur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SWOT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4251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Forces, faiblesses, opportunités, menaces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54880" y="132588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58968" y="1097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actuelles &amp; futures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1600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marché + emerging trends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54880" y="26517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58968" y="2423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segment ciblé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58968" y="29260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Action-RPG multiplateforme 18-35 ans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09160" y="3657600"/>
            <a:ext cx="640080" cy="11887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54880" y="397764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58968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4251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 jeu + prévision des ventes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1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UOI GAMES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marché du jeu vidéo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stratégiques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743200" cy="36576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Modestine BAH — Data ESN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440 896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0604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référencées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1980–2022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4187952"/>
            <a:ext cx="1965960" cy="8229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903720" y="4224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segment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4663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MISSION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438912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UOI Games
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indépendant spécialisé jeu vidéo
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leur premier jeu vidéo Triple A
</a:t>
            </a:r>
            <a:endParaRPr lang="en-US" sz="15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 = </a:t>
            </a: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à gros budget, qualité AAA, distribution mondiale
</a:t>
            </a:r>
            <a:endParaRPr lang="en-US" sz="15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Interlocutrice : </a:t>
            </a: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Juliette, Responsable projet Triple 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69080" cy="38404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438912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LIVRABLES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16093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PESTEL &amp; SWOT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21579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marché actuelles &amp; futures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chiffrée du segment ciblé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3255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statistiques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3803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jeu Triple 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297680"/>
            <a:ext cx="384048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1808" y="4352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grossière des ventes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ANALYSE PESTEL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01752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Politique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Régulations ESRB/PEGI sur la classification des jeux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Politiques de protection des données (RGPD)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Tensions géopolitiques : restrictions marché chinois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73552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Économique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mondial : 197 Md$ en 2023, +8% / 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Free-to-play dominant : 80% des revenus mobile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Inflation : pression sur prix des jeux AAA (70€)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45352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3,2 milliards de joueurs dans le monde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Dématérialisation : 75% des ventes sont digitales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Essor gaming féminin : 48% des joueurs sont des femmes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10896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28600" y="310896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01752" y="31638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Technologique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56616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PS5/Xbox Series X : nouvelles capacités graphiques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gaming : Xbox Game Pass, GeForce Now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générative dans la création de jeux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73552" y="31638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Environnemental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56616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Empreinte carbone des datacenters cloud gaming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Tendance gaming dématérialisé = moins d'emballages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Engagement RSE des grands studios (Ubisoft, EA)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3108960"/>
            <a:ext cx="2834640" cy="20116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72200" y="3108960"/>
            <a:ext cx="283464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245352" y="316382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Légal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566160"/>
            <a:ext cx="2651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Loot boxes : régulation en cours (Belgique, Pays-Bas)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DRM et piratage : enjeux de protection 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Droit des studios indés face aux grands éditeurs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MATRICE SWOT — MARCHÉ JEU VIDÉO TRIPLE 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97680" cy="38404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014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en croissance continue (+8%/an)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Audience mondiale de 3,2 Md de joueurs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Technologie PS5/Xbox Series X mature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Succès des licences RPG (Elden Ring, Final Fantasy)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Modèles de revenus diversifiés (DLC, pass)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960120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297680" cy="384048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73168" y="1014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417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Coûts de développement AAA : 100-300 M$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Délais longs (3-7 ans de dev)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Concentration du marché autour des grands studios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Risque d'échec commercial élevé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Difficulté de visibilité pour un nouveau studio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044952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28600" y="3044952"/>
            <a:ext cx="4297680" cy="384048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3099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502152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 Action-RPG sous-exploité par les indés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Croissance du marché PC et Switch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Succès des jeux narratifs immersifs (Baldur's Gate 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Communautés très fidèles et prescriptrices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Co-production avec studios établis possible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3044952"/>
            <a:ext cx="4297680" cy="1993392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81728" y="3044952"/>
            <a:ext cx="4297680" cy="384048"/>
          </a:xfrm>
          <a:prstGeom prst="rect">
            <a:avLst/>
          </a:prstGeom>
          <a:solidFill>
            <a:srgbClr val="5A5A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73168" y="3099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502152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Concurrence intense : Sony, Microsoft, Nintendo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Saturation du marché mobile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Cycles de hype courts (jeu oublié en 6 mois)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Dépendance aux plateformes (Steam, PS Store)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Rachat des studios indés par les géants (Xbox)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TENDANCES ACTUELLES DU MARCHÉ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Md$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mondial 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41448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Mds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41448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dans le monde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54296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54296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+8%/an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54296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67144" y="1005840"/>
            <a:ext cx="20574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67144" y="107899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440 896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67144" y="1581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publiés (notre BDD)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 par volume (440 896 jeux)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2468880"/>
            <a:ext cx="2483510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1142" y="24231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843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54480" y="2889504"/>
            <a:ext cx="1971446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599078" y="28437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32644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54480" y="3310128"/>
            <a:ext cx="1766621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94253" y="32644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36850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3730752"/>
            <a:ext cx="1536192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163824" y="36850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" y="4105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54480" y="4151376"/>
            <a:ext cx="1100938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728570" y="41056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45262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54480" y="4572000"/>
            <a:ext cx="588874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216506" y="4526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les plus vendues (millions)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2468880"/>
            <a:ext cx="2076831" cy="237744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9053703" y="24231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 Switch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2889504"/>
            <a:ext cx="1669351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646224" y="28437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264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03720" y="3310128"/>
            <a:ext cx="1524762" cy="237744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501634" y="32644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3685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 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3730752"/>
            <a:ext cx="2063686" cy="237744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9040559" y="36850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105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4151376"/>
            <a:ext cx="565213" cy="23774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7542086" y="41056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PC domine la publication (258 865 jeux) · iOS 2ème (67 002) · PS4 et Switch leaders sur console fixe/hybride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TENDANCES FUTURES &amp; PERSPECTIVES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069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cloud gaming devrait peser 8,5 Md$ d'ici 2025. Xbox Game Pass et PlayStation Now transforment le modèle d'accès au jeu.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069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2704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réduit les coûts de dev (textures, dialogues, PNJ). Studios AAA déjà en production avec Copilot/Unreal AI.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63640" y="1069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Multiplateforme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52704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forte : les joueurs veulent jouer partout. Baldur's Gate 3 (GOTY 2023) : PC + PS5 simultané. +35% de revenus vs exclusivité.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20040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331012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Narratif Immersif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76732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narratifs en forte croissance (+24%). Notes Metacritic : RPG = 76,1/100 (meilleure moyenne tous genres). Engagement joueur : 7,8h playtime moyen.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91840" y="3310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Asiatique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76732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Chine et le Japon représentent 48% du marché mondial. Les RPG style JRPG (FF, Persona) cartonnent globalement.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200400"/>
            <a:ext cx="2834640" cy="214884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263640" y="3310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76732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et Season Pass : +40% de revenus additionnels sur un jeu AAA. Battle pass moins bien perçu (loot boxes réglementées).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ANALYSE DU SEGMENT CIBLÉ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Segment retenu : Action-RPG | Multiplateforme PC + PS5 + Switch | Public 18–35 ans | Narratif immersif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76,1/100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: meilleure note Metacritic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score de tous les genres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41448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32888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Action-RPG : engagement maximal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32888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 moyen le plus élevé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54296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654296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0,44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note ↔ popularité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45736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jeu est noté, plus il est joué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67144" y="1783080"/>
            <a:ext cx="2057400" cy="14173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67144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58584" y="2487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RPG en croissance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58584" y="28803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 du genre RPG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333756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du consommateur cible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1752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ans, joueurs 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Majoritairement masculin mais féminisation en hausse (48% de femmes joueurs)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41448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1460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990088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console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32888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: PC dominant (258K jeux), PS5 en forte croissance, Switch pour mobilité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54296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27448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02936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/ narrative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45736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immersion, histoire riche, liberté de choix. ESRB Teen/Mature = cible prioritaire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67144" y="3749040"/>
            <a:ext cx="2057400" cy="1234440"/>
          </a:xfrm>
          <a:prstGeom prst="rect">
            <a:avLst/>
          </a:prstGeom>
          <a:solidFill>
            <a:srgbClr val="F8F6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940296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15784" y="38130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DLC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58584" y="4187952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payer 60-70€ + extensions si qualité. Allergique aux loot boxes abusives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ANALYSES DE CORRÉLATION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statistiques issues de la base de 440 896 jeux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8686800" cy="10972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109728" cy="1097280"/>
          </a:xfrm>
          <a:prstGeom prst="rect">
            <a:avLst/>
          </a:prstGeom>
          <a:solidFill>
            <a:srgbClr val="2D9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Metacritic  ↔  Rating joueurs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0,44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8660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Corrélation significative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jeux bien notés par la presse sont aussi bien évalués par les joueurs — cohérence de la qualité perçue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06040"/>
            <a:ext cx="8686800" cy="10972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109728" cy="1097280"/>
          </a:xfrm>
          <a:prstGeom prst="rect">
            <a:avLst/>
          </a:prstGeom>
          <a:solidFill>
            <a:srgbClr val="2D9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Metacritic  ↔  Nombre de ratings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0,35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Corrélation significative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jeux de qualité génèrent plus d'engagement communautaire — effet prescription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794760"/>
            <a:ext cx="8686800" cy="109728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109728" cy="10972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  ↔  Note Metacritic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840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0,17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Corrélation faible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Corrélation faible : la durée de vie n'est pas uniquement déterminée par la qualité — game design est clé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8686800" cy="77724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Investir dans la qualité (Metacritic élevé) est la meilleure stratégie de croissance.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bien noté génère plus d'engagement, plus de reviews, et une communauté prescriptrice qui soutient les ventes long terme.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VALIDATION DU SEGMENT : QUESTIONNAIRE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diffusé auprès de 15 répondants — Google 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8686800" cy="658368"/>
          </a:xfrm>
          <a:prstGeom prst="rect">
            <a:avLst/>
          </a:prstGeom>
          <a:solidFill>
            <a:srgbClr val="F5F2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plateforme utilisez-vous principalement 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4447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PC 60% · PS5 27% · Switch 13%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81051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8686800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10312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28600" y="22402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176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genre de jeu préférez-vous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1762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RPG 40% · Action-Aventure 33% · FPS 13% · Autre 14%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254203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8686800" cy="658368"/>
          </a:xfrm>
          <a:prstGeom prst="rect">
            <a:avLst/>
          </a:prstGeom>
          <a:solidFill>
            <a:srgbClr val="F5F2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28600" y="2971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907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dépensez-vous par an en jeux vidéo 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9077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60-150€ : 47% · 150-300€ : 33% · +300€ : 20%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27355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28600" y="3566160"/>
            <a:ext cx="8686800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28600" y="356616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28600" y="37033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639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vous pousse à acheter un jeu 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3639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Histoire/scénario 53% · Gameplay 40% · Graphismes 7%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400507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F5F2FF"/>
          </a:solidFill>
          <a:ln w="635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28600" y="4297680"/>
            <a:ext cx="594360" cy="658368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28600" y="44348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Seriez-vous intéressé par un RPG narratif indépendant 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3708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Très intéressé 60% · Intéressé 33% · Non 7%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4736592"/>
            <a:ext cx="7909560" cy="146304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28600" y="5074920"/>
            <a:ext cx="86868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Résultat clé : 93% des répondants intéressés par un RPG narratif · Le scénario prime sur les graphismes · PC + PS5 = plateformes prioritaires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RECOMMANDATION STRATÉGIQUE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96012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CONCEPT RECOMMANDÉ : « NEXUS RIFT 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Action-RPG narratif en monde semi-ouvert · PC + PlayStation 5 + Nintendo Switch · Public : 18-35 ans / PEGI 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Univers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Science-fantasy post-apocalyptique. Monde semi-ouvert avec exploration, choix moraux et fins multiples.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32888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Gameplay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en temps réel avec éléments tactiques. Arbre de compétences profond. Coopération en ligne optionnelle.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54296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45736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Narration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5736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principal de 40h + contenu annexe. Dialogues doublés, personnages mémorables. Fort accent sur les choix du joueur.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2011680"/>
            <a:ext cx="2057400" cy="1645920"/>
          </a:xfrm>
          <a:prstGeom prst="rect">
            <a:avLst/>
          </a:prstGeom>
          <a:solidFill>
            <a:srgbClr val="F5F2FF"/>
          </a:solidFill>
          <a:ln w="12700">
            <a:solidFill>
              <a:srgbClr val="C1B6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958584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Modèle éco.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58584" y="2468880"/>
            <a:ext cx="1874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base 59,99€. 2 DLC narratifs à 14,99€. Pass cosmétique optionnel. Pas de loot box.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recommandé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114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Série animée / manga 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(modèle Arcane / Netflix)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Partenariat influenceurs 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(YouTube, Twitch, TikTok)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OST en streaming 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(Spotify / Apple Music)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 + figurines collector</a:t>
            </a:r>
            <a:r>
              <a:rPr lang="en-US" sz="10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(édition limitée)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grossière des ventes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4114800"/>
            <a:ext cx="1389888" cy="914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63440" y="41605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bas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445312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 unités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7365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4114800"/>
            <a:ext cx="1389888" cy="9144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144768" y="41605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central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44768" y="445312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M unités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47365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26096" y="4114800"/>
            <a:ext cx="1389888" cy="914400"/>
          </a:xfrm>
          <a:prstGeom prst="rect">
            <a:avLst/>
          </a:prstGeom>
          <a:solidFill>
            <a:srgbClr val="2D9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626096" y="41605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haut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26096" y="445312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 unités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26096" y="47365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M€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B6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200400" cy="45720"/>
          </a:xfrm>
          <a:prstGeom prst="rect">
            <a:avLst/>
          </a:prstGeom>
          <a:solidFill>
            <a:srgbClr val="A288E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28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Modestine Bah — Data ESN — Projet 10 BIA —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1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Newzoo Global Games Market Report 2023 · RAWG API (440 896 jeux) · VGChartz Console Sales · Metacritic · Statista Gaming 2023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ig Data Science Consulting Toolkit by Slidesgo">
  <a:themeElements>
    <a:clrScheme name="Simple Light">
      <a:dk1>
        <a:srgbClr val="351C75"/>
      </a:dk1>
      <a:lt1>
        <a:srgbClr val="FFFFFF"/>
      </a:lt1>
      <a:dk2>
        <a:srgbClr val="674EA7"/>
      </a:dk2>
      <a:lt2>
        <a:srgbClr val="FFFFFF"/>
      </a:lt2>
      <a:accent1>
        <a:srgbClr val="00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imple Light">
    <a:dk1>
      <a:srgbClr val="351C75"/>
    </a:dk1>
    <a:lt1>
      <a:srgbClr val="FFFFFF"/>
    </a:lt1>
    <a:dk2>
      <a:srgbClr val="674EA7"/>
    </a:dk2>
    <a:lt2>
      <a:srgbClr val="FFFFFF"/>
    </a:lt2>
    <a:accent1>
      <a:srgbClr val="00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1565</Words>
  <Application>Microsoft Macintosh PowerPoint</Application>
  <PresentationFormat>Affichage à l'écran (16:9)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</vt:lpstr>
      <vt:lpstr>Dosis</vt:lpstr>
      <vt:lpstr>Space Grotesk</vt:lpstr>
      <vt:lpstr>Space Grotesk Medium</vt:lpstr>
      <vt:lpstr>Office Theme</vt:lpstr>
      <vt:lpstr>Big Data Science Consulting Toolkit by Slidesgo</vt:lpstr>
      <vt:lpstr>Demande Business   Segmentation du marché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Modestine Genevieve M A BAH</cp:lastModifiedBy>
  <cp:revision>8</cp:revision>
  <dcterms:created xsi:type="dcterms:W3CDTF">2026-06-10T11:00:43Z</dcterms:created>
  <dcterms:modified xsi:type="dcterms:W3CDTF">2026-06-13T12:58:16Z</dcterms:modified>
</cp:coreProperties>
</file>