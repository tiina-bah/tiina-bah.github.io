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10"/>
    <p:restoredTop sz="94610"/>
  </p:normalViewPr>
  <p:slideViewPr>
    <p:cSldViewPr snapToGrid="0" snapToObjects="1">
      <p:cViewPr varScale="1">
        <p:scale>
          <a:sx n="159" d="100"/>
          <a:sy n="159" d="100"/>
        </p:scale>
        <p:origin x="20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4220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(30 sec)
Bonjour, je m'appelle Modestine Bah, je suis consultante Business Intelligence Analyst chez ESN Data. Aujourd'hui je vais vous présenter le projet 8 : une analyse du marché immobilier parisien réalisée pour Les Plus Beaux Logis de Paris, ainsi que la prédiction de valorisation de leur portefeuille d'actifs. La présentation se déroulera en deux parties : d'abord l'analyse et la régression linéaire, puis la classification automatique des biens.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(20 sec)
La présentation s'articule en 6 parties. Je commencerai par le contexte de la mission, puis je vous présenterai l'analyse des données historiques et la méthodologie du modèle prédictif, avant d'aborder les résultats concrets pour le portefeuille et la classification automatique des biens.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Les Plus Beaux Logis de Paris est un fonds d'investissement qui achète des biens immobiliers pour les revendre. Ils nous ont confié deux missions : d'abord analyser le marché parisien de 2017 à 2021 et prédire la valorisation de leurs 275 actifs au 31 décembre 2022. Ensuite, développer un outil de classification automatique pour identifier rapidement la nature des biens — appartement ou local commercial — sans avoir à enquêter manuellement.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Nous avons travaillé sur un historique de 26 196 transactions immobilières à Paris entre 2017 et 2021. La grande majorité sont des appartements — 93% — les locaux commerciaux représentent les 7% restants. Les variables clés sont la surface, la date de transaction, la localisation par arrondissement et le type de bien. Deux de ces variables sont textuelles — le code postal et le type de bien — et ont nécessité une transformation appelée One Hot Encoding avant de pouvoir être utilisées par l'algorithme.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Ce graphique montre l'évolution du prix moyen au m² des appartements parisiens entre 2017 et 2021. On observe une hausse continue de 2017 à 2020, passant de 9 493€ à 10 675€ par m², soit une augmentation de 12,4%. En 2021, on note une légère inflexion à 10 456€ — nous l'attribuons à un probable effet post-COVID sur le marché. Ce qui est frappant, c'est la disparité entre arrondissements : le 7ème affiche environ 13 000€/m² quand le 19ème est autour de 9 000€/m². Cela confirme que la localisation est une variable déterminante pour notre modèle.
Si on vous demande pourquoi 2021 baisse : 'Le marché immobilier parisien a subi un ralentissement post-confinement, avec une demande moins soutenue dans certains arrondissements centraux.'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Nous avons calculé deux coefficients de corrélation de Pearson pour valider nos choix de variables. Le premier, entre le prix au m² et la date, donne un r de 0,90 — c'est une corrélation très forte. La p-value est bien en dessous de 0,05, ce qui signifie que ce résultat n'est pas dû au hasard. Le second, entre la valeur foncière et la surface, donne un r de 0,99 — quasi-parfait. Ces deux tests confirment que la date et la surface sont des variables clés.
Si on vous demande c'est quoi le coefficient de Pearson : 'C'est une mesure entre -1 et +1 de la force de la relation entre deux variables. Proche de 1 signifie que quand l'une augmente, l'autre aussi de façon proportionnelle.'
Si on vous demande c'est quoi la p-value : 'C'est la probabilité que ce résultat soit dû au hasard. En dessous de 0,05 — notre seuil standard — on considère la corrélation statistiquement significative.'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Pour construire notre modèle de prédiction, nous avons suivi quatre étapes. La première est le One Hot Encoding : nos données contiennent des variables textuelles — le code postal et le type de bien — qu'un algorithme mathématique ne peut pas traiter directement. Nous les avons donc transformées en colonnes binaires : une colonne par arrondissement qui vaut 1 si le bien est dans cet arrondissement, 0 sinon. La deuxième étape est la séparation train/test : nous avons entraîné le modèle sur les données les plus anciennes — 2017 à mi-2020 environ — et testé sur les plus récentes. C'est important pour ne pas tester le modèle sur des données qu'il a déjà vues. Ensuite l'entraînement, puis l'évaluation.
Si on vous demande c'est quoi la régression linéaire : 'C'est un algorithme qui cherche la droite — ou le plan en plusieurs dimensions — qui passe au plus près de tous les points de données. Il apprend les coefficients qui relient les variables d'entrée à la variable de sortie, ici la valeur foncière.'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Le résultat est encourageant : notre modèle fait 8,9% d'erreur moyenne sur les données de test, ce qui est en dessous du seuil de 10% fixé comme objectif. Cela signifie que pour un bien valant 500 000€, notre prédiction sera en moyenne à ±44 500€ près. Sur la valorisation du portefeuille, le segment corporate présente une valorisation supérieure au segment particuliers au 31 décembre 2022. [Compléter avec vos chiffres réels.]
Je tiens à être transparent sur les limites : d'abord, la marge d'erreur de 8,9% signifie qu'une faible différence entre les deux segments peut être dans la fourchette d'incertitude. Ensuite, notre modèle a été entraîné sur des données jusqu'à 2021 — il ne peut pas anticiper la forte hausse des taux d'intérêt de 2022 qui a ralenti le marché immobilier.
Si on vous demande comment améliorer le modèle : 'On pourrait utiliser un Random Forest ou XGBoost qui capturent mieux les non-linéarités, ou intégrer des données macroéconomiques comme les taux d'intérêt.'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(2 min)
Louise, la directrice générale adjointe de la branche corporate, nous a demandé de développer un outil de classification automatique. Aujourd'hui ses équipes doivent appeler pour savoir si un bien est un appartement ou un local commercial — c'est chronophage. Notre solution : l'algorithme KMeans.
Voici comment il fonctionne, de façon simple : on lui dit qu'on veut 2 groupes — c'est notre k=2 — car on a deux types de biens. Il place deux points de référence au hasard dans nos données, appelés centroïdes. Ensuite il attribue chaque bien au centroïde le plus proche, recalcule la position de chaque centroïde au centre de son groupe, et recommence. Il converge rapidement vers deux groupes stables. La variable que nous utilisons pour distinguer les biens est le prix au mètre carré : les locaux commerciaux ont systématiquement un prix au m² plus élevé que les appartements — nous l'avons démontré dans l'analyse exploratoire.
Si on vous demande pourquoi k=2 : 'Parce que Louise veut classifier en deux catégories précises. On connaît à l'avance le nombre de groupes souhaités.'
Si on vous demande les limites du KMeans : 'Il est sensible à l'initialisation et suppose des groupes sphériques de taille comparable. Si les prix se chevauchent dans certains arrondissements, des erreurs de classification peuvent survenir.'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ORAL (1 min 30)
En synthèse, cette mission a abouti à trois résultats concrets. Premièrement, une analyse complète du marché immobilier parisien entre 2017 et 2021, qui confirme une tendance haussière avec des disparités importantes selon les arrondissements. Deuxièmement, un modèle de prédiction avec 8,9% d'erreur moyenne qui identifie le segment corporate comme ayant la valorisation la plus élevée en 2022. Troisièmement, un outil de classification automatique qui va permettre aux équipes de Louise de gagner du temps dans leur travail quotidien.
Pour aller plus loin, nous recommandons d'intégrer les données 2022 dès qu'elles seront disponibles, d'explorer des modèles plus sophistiqués comme Random Forest, et d'affiner la granularité géographique jusqu'au niveau de la rue.
Je vous remercie pour votre attention et reste disponible pour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&amp; RÉPONSES :
 Q: C'est quoi le KMeans ?
R: Algorithme de regroupement automatique. On définit k=2 groupes. Il place 2 centroïdes, attribue chaque bien au plus proche, déplace les centroïdes, recommence jusqu'à stabilisation. Critère : prix au m².
Q: C'est quoi le One Hot Encoding ?
R: Transformation d'une variable textuelle en colonnes binaires 0/1. Ex : 'Appartement' → colonne Appartement=1, colonne Local=0.
Q: Pourquoi séparation chronologique ?
R: Pour ne pas tester sur des données plus anciennes que l'entraînement — ce serait 'prédire le passé'.
Q: Quelles librairies ?
R: pandas (données), numpy (calculs), matplotlib (graphiques), scipy (Pearson), sklearn (régression, KMeans), datetime (timestamps), openpyxl (Excel).
Q: Limites du modèle ?
R: 8,9% d'erreur, données arrêtées en 2021, régression linéaire ne capture pas les non-linéarités, granularité à l'arrondissement.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fr-FR"/>
          </a:p>
        </p:txBody>
      </p:sp>
      <p:sp>
        <p:nvSpPr>
          <p:cNvPr id="3" name="Shape 1"/>
          <p:cNvSpPr/>
          <p:nvPr/>
        </p:nvSpPr>
        <p:spPr>
          <a:xfrm>
            <a:off x="0" y="3840480"/>
            <a:ext cx="9144000" cy="1303020"/>
          </a:xfrm>
          <a:prstGeom prst="rect">
            <a:avLst/>
          </a:prstGeom>
          <a:solidFill>
            <a:srgbClr val="F96167"/>
          </a:solidFill>
          <a:ln/>
        </p:spPr>
        <p:txBody>
          <a:bodyPr/>
          <a:lstStyle/>
          <a:p>
            <a:endParaRPr lang="fr-FR"/>
          </a:p>
        </p:txBody>
      </p:sp>
      <p:sp>
        <p:nvSpPr>
          <p:cNvPr id="4" name="Text 2"/>
          <p:cNvSpPr/>
          <p:nvPr/>
        </p:nvSpPr>
        <p:spPr>
          <a:xfrm>
            <a:off x="457200" y="548640"/>
            <a:ext cx="8229600" cy="640080"/>
          </a:xfrm>
          <a:prstGeom prst="rect">
            <a:avLst/>
          </a:prstGeom>
          <a:noFill/>
          <a:ln/>
        </p:spPr>
        <p:txBody>
          <a:bodyPr wrap="square" rtlCol="0" anchor="ctr"/>
          <a:lstStyle/>
          <a:p>
            <a:pPr marL="0" indent="0" algn="ctr">
              <a:buNone/>
            </a:pPr>
            <a:r>
              <a:rPr lang="en-US" sz="2800" b="1" kern="0" spc="300" dirty="0">
                <a:solidFill>
                  <a:srgbClr val="FFFFFF"/>
                </a:solidFill>
                <a:latin typeface="Calibri" pitchFamily="34" charset="0"/>
                <a:ea typeface="Calibri" pitchFamily="34" charset="-122"/>
                <a:cs typeface="Calibri" pitchFamily="34" charset="-120"/>
              </a:rPr>
              <a:t>LES PLUS BEAUX LOGIS DE PARIS</a:t>
            </a:r>
            <a:endParaRPr lang="en-US" sz="2800" dirty="0"/>
          </a:p>
        </p:txBody>
      </p:sp>
      <p:sp>
        <p:nvSpPr>
          <p:cNvPr id="5" name="Text 3"/>
          <p:cNvSpPr/>
          <p:nvPr/>
        </p:nvSpPr>
        <p:spPr>
          <a:xfrm>
            <a:off x="457200" y="1371600"/>
            <a:ext cx="8229600" cy="109728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Analyse du marché immobilier parisien</a:t>
            </a:r>
            <a:endParaRPr lang="en-US" sz="1800" dirty="0"/>
          </a:p>
          <a:p>
            <a:pPr marL="0" indent="0" algn="ctr">
              <a:buNone/>
            </a:pPr>
            <a:r>
              <a:rPr lang="en-US" sz="1800" dirty="0">
                <a:solidFill>
                  <a:srgbClr val="CADCFC"/>
                </a:solidFill>
                <a:latin typeface="Calibri" pitchFamily="34" charset="0"/>
                <a:ea typeface="Calibri" pitchFamily="34" charset="-122"/>
                <a:cs typeface="Calibri" pitchFamily="34" charset="-120"/>
              </a:rPr>
              <a:t>et prédiction de valorisation du portefeuille</a:t>
            </a:r>
            <a:endParaRPr lang="en-US" sz="1800" dirty="0"/>
          </a:p>
        </p:txBody>
      </p:sp>
      <p:sp>
        <p:nvSpPr>
          <p:cNvPr id="6" name="Text 4"/>
          <p:cNvSpPr/>
          <p:nvPr/>
        </p:nvSpPr>
        <p:spPr>
          <a:xfrm>
            <a:off x="457200" y="2743200"/>
            <a:ext cx="822960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Modestine BAH — Business Intelligence Analyst</a:t>
            </a:r>
            <a:endParaRPr lang="en-US" sz="1400" dirty="0"/>
          </a:p>
        </p:txBody>
      </p:sp>
      <p:sp>
        <p:nvSpPr>
          <p:cNvPr id="7" name="Text 5"/>
          <p:cNvSpPr/>
          <p:nvPr/>
        </p:nvSpPr>
        <p:spPr>
          <a:xfrm>
            <a:off x="457200" y="3977640"/>
            <a:ext cx="82296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ESN Data | Projet 8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SOMMAIRE</a:t>
            </a:r>
            <a:endParaRPr lang="en-US" sz="2400" dirty="0"/>
          </a:p>
        </p:txBody>
      </p:sp>
      <p:sp>
        <p:nvSpPr>
          <p:cNvPr id="4" name="Shape 2"/>
          <p:cNvSpPr/>
          <p:nvPr/>
        </p:nvSpPr>
        <p:spPr>
          <a:xfrm>
            <a:off x="365760" y="1097280"/>
            <a:ext cx="4114800" cy="100584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457200" y="114300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005840" y="114300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Contexte &amp; Mission</a:t>
            </a:r>
            <a:endParaRPr lang="en-US" sz="1300" dirty="0"/>
          </a:p>
        </p:txBody>
      </p:sp>
      <p:sp>
        <p:nvSpPr>
          <p:cNvPr id="7" name="Text 5"/>
          <p:cNvSpPr/>
          <p:nvPr/>
        </p:nvSpPr>
        <p:spPr>
          <a:xfrm>
            <a:off x="1005840" y="160020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Le client, les objectifs, les données</a:t>
            </a:r>
            <a:endParaRPr lang="en-US" sz="1000" dirty="0"/>
          </a:p>
        </p:txBody>
      </p:sp>
      <p:sp>
        <p:nvSpPr>
          <p:cNvPr id="8" name="Shape 6"/>
          <p:cNvSpPr/>
          <p:nvPr/>
        </p:nvSpPr>
        <p:spPr>
          <a:xfrm>
            <a:off x="365760" y="2286000"/>
            <a:ext cx="4114800" cy="100584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57200" y="233172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005840" y="233172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Analyse du marché (2017–2021)</a:t>
            </a:r>
            <a:endParaRPr lang="en-US" sz="1300" dirty="0"/>
          </a:p>
        </p:txBody>
      </p:sp>
      <p:sp>
        <p:nvSpPr>
          <p:cNvPr id="11" name="Text 9"/>
          <p:cNvSpPr/>
          <p:nvPr/>
        </p:nvSpPr>
        <p:spPr>
          <a:xfrm>
            <a:off x="1005840" y="278892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Exploration, visualisation, corrélations</a:t>
            </a:r>
            <a:endParaRPr lang="en-US" sz="1000" dirty="0"/>
          </a:p>
        </p:txBody>
      </p:sp>
      <p:sp>
        <p:nvSpPr>
          <p:cNvPr id="12" name="Shape 10"/>
          <p:cNvSpPr/>
          <p:nvPr/>
        </p:nvSpPr>
        <p:spPr>
          <a:xfrm>
            <a:off x="365760" y="3474720"/>
            <a:ext cx="4114800" cy="1005840"/>
          </a:xfrm>
          <a:prstGeom prst="rect">
            <a:avLst/>
          </a:prstGeom>
          <a:solidFill>
            <a:srgbClr val="F0F4FF"/>
          </a:solidFill>
          <a:ln w="12700">
            <a:solidFill>
              <a:srgbClr val="CADCFC"/>
            </a:solidFill>
            <a:prstDash val="solid"/>
          </a:ln>
        </p:spPr>
        <p:txBody>
          <a:bodyPr/>
          <a:lstStyle/>
          <a:p>
            <a:endParaRPr lang="fr-FR"/>
          </a:p>
        </p:txBody>
      </p:sp>
      <p:sp>
        <p:nvSpPr>
          <p:cNvPr id="13" name="Text 11"/>
          <p:cNvSpPr/>
          <p:nvPr/>
        </p:nvSpPr>
        <p:spPr>
          <a:xfrm>
            <a:off x="457200" y="352044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005840" y="352044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Modèle de prédiction</a:t>
            </a:r>
            <a:endParaRPr lang="en-US" sz="1300" dirty="0"/>
          </a:p>
        </p:txBody>
      </p:sp>
      <p:sp>
        <p:nvSpPr>
          <p:cNvPr id="15" name="Text 13"/>
          <p:cNvSpPr/>
          <p:nvPr/>
        </p:nvSpPr>
        <p:spPr>
          <a:xfrm>
            <a:off x="1005840" y="397764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Régression linéaire — méthodologie &amp; résultats</a:t>
            </a:r>
            <a:endParaRPr lang="en-US" sz="1000" dirty="0"/>
          </a:p>
        </p:txBody>
      </p:sp>
      <p:sp>
        <p:nvSpPr>
          <p:cNvPr id="16" name="Shape 14"/>
          <p:cNvSpPr/>
          <p:nvPr/>
        </p:nvSpPr>
        <p:spPr>
          <a:xfrm>
            <a:off x="4754880" y="1097280"/>
            <a:ext cx="4114800" cy="1005840"/>
          </a:xfrm>
          <a:prstGeom prst="rect">
            <a:avLst/>
          </a:prstGeom>
          <a:solidFill>
            <a:srgbClr val="F0F4FF"/>
          </a:solidFill>
          <a:ln w="12700">
            <a:solidFill>
              <a:srgbClr val="CADCFC"/>
            </a:solidFill>
            <a:prstDash val="solid"/>
          </a:ln>
        </p:spPr>
        <p:txBody>
          <a:bodyPr/>
          <a:lstStyle/>
          <a:p>
            <a:endParaRPr lang="fr-FR"/>
          </a:p>
        </p:txBody>
      </p:sp>
      <p:sp>
        <p:nvSpPr>
          <p:cNvPr id="17" name="Text 15"/>
          <p:cNvSpPr/>
          <p:nvPr/>
        </p:nvSpPr>
        <p:spPr>
          <a:xfrm>
            <a:off x="4846320" y="114300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5394960" y="114300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Valorisation du portefeuille</a:t>
            </a:r>
            <a:endParaRPr lang="en-US" sz="1300" dirty="0"/>
          </a:p>
        </p:txBody>
      </p:sp>
      <p:sp>
        <p:nvSpPr>
          <p:cNvPr id="19" name="Text 17"/>
          <p:cNvSpPr/>
          <p:nvPr/>
        </p:nvSpPr>
        <p:spPr>
          <a:xfrm>
            <a:off x="5394960" y="160020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Prédiction au 31/12/2022 — segments particuliers vs corporate</a:t>
            </a:r>
            <a:endParaRPr lang="en-US" sz="1000" dirty="0"/>
          </a:p>
        </p:txBody>
      </p:sp>
      <p:sp>
        <p:nvSpPr>
          <p:cNvPr id="20" name="Shape 18"/>
          <p:cNvSpPr/>
          <p:nvPr/>
        </p:nvSpPr>
        <p:spPr>
          <a:xfrm>
            <a:off x="4754880" y="2286000"/>
            <a:ext cx="4114800" cy="1005840"/>
          </a:xfrm>
          <a:prstGeom prst="rect">
            <a:avLst/>
          </a:prstGeom>
          <a:solidFill>
            <a:srgbClr val="F0F4FF"/>
          </a:solidFill>
          <a:ln w="12700">
            <a:solidFill>
              <a:srgbClr val="CADCFC"/>
            </a:solidFill>
            <a:prstDash val="solid"/>
          </a:ln>
        </p:spPr>
        <p:txBody>
          <a:bodyPr/>
          <a:lstStyle/>
          <a:p>
            <a:endParaRPr lang="fr-FR"/>
          </a:p>
        </p:txBody>
      </p:sp>
      <p:sp>
        <p:nvSpPr>
          <p:cNvPr id="21" name="Text 19"/>
          <p:cNvSpPr/>
          <p:nvPr/>
        </p:nvSpPr>
        <p:spPr>
          <a:xfrm>
            <a:off x="4846320" y="233172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5394960" y="233172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Classification automatique (KMeans)</a:t>
            </a:r>
            <a:endParaRPr lang="en-US" sz="1300" dirty="0"/>
          </a:p>
        </p:txBody>
      </p:sp>
      <p:sp>
        <p:nvSpPr>
          <p:cNvPr id="23" name="Text 21"/>
          <p:cNvSpPr/>
          <p:nvPr/>
        </p:nvSpPr>
        <p:spPr>
          <a:xfrm>
            <a:off x="5394960" y="278892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Principe, résultats, limites</a:t>
            </a:r>
            <a:endParaRPr lang="en-US" sz="1000" dirty="0"/>
          </a:p>
        </p:txBody>
      </p:sp>
      <p:sp>
        <p:nvSpPr>
          <p:cNvPr id="24" name="Shape 22"/>
          <p:cNvSpPr/>
          <p:nvPr/>
        </p:nvSpPr>
        <p:spPr>
          <a:xfrm>
            <a:off x="4754880" y="3474720"/>
            <a:ext cx="4114800" cy="1005840"/>
          </a:xfrm>
          <a:prstGeom prst="rect">
            <a:avLst/>
          </a:prstGeom>
          <a:solidFill>
            <a:srgbClr val="F0F4FF"/>
          </a:solidFill>
          <a:ln w="12700">
            <a:solidFill>
              <a:srgbClr val="CADCFC"/>
            </a:solidFill>
            <a:prstDash val="solid"/>
          </a:ln>
        </p:spPr>
        <p:txBody>
          <a:bodyPr/>
          <a:lstStyle/>
          <a:p>
            <a:endParaRPr lang="fr-FR"/>
          </a:p>
        </p:txBody>
      </p:sp>
      <p:sp>
        <p:nvSpPr>
          <p:cNvPr id="25" name="Text 23"/>
          <p:cNvSpPr/>
          <p:nvPr/>
        </p:nvSpPr>
        <p:spPr>
          <a:xfrm>
            <a:off x="4846320" y="3520440"/>
            <a:ext cx="548640" cy="457200"/>
          </a:xfrm>
          <a:prstGeom prst="rect">
            <a:avLst/>
          </a:prstGeom>
          <a:noFill/>
          <a:ln/>
        </p:spPr>
        <p:txBody>
          <a:bodyPr wrap="square" rtlCol="0" anchor="ctr"/>
          <a:lstStyle/>
          <a:p>
            <a:pPr marL="0" indent="0">
              <a:buNone/>
            </a:pPr>
            <a:r>
              <a:rPr lang="en-US" sz="2200" b="1" dirty="0">
                <a:solidFill>
                  <a:srgbClr val="F96167"/>
                </a:solidFill>
                <a:latin typeface="Calibri" pitchFamily="34" charset="0"/>
                <a:ea typeface="Calibri" pitchFamily="34" charset="-122"/>
                <a:cs typeface="Calibri" pitchFamily="34" charset="-120"/>
              </a:rPr>
              <a:t>06</a:t>
            </a:r>
            <a:endParaRPr lang="en-US" sz="2200" dirty="0"/>
          </a:p>
        </p:txBody>
      </p:sp>
      <p:sp>
        <p:nvSpPr>
          <p:cNvPr id="26" name="Text 24"/>
          <p:cNvSpPr/>
          <p:nvPr/>
        </p:nvSpPr>
        <p:spPr>
          <a:xfrm>
            <a:off x="5394960" y="3520440"/>
            <a:ext cx="3383280" cy="41148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Conclusions &amp; Recommandations</a:t>
            </a:r>
            <a:endParaRPr lang="en-US" sz="1300" dirty="0"/>
          </a:p>
        </p:txBody>
      </p:sp>
      <p:sp>
        <p:nvSpPr>
          <p:cNvPr id="27" name="Text 25"/>
          <p:cNvSpPr/>
          <p:nvPr/>
        </p:nvSpPr>
        <p:spPr>
          <a:xfrm>
            <a:off x="5394960" y="3977640"/>
            <a:ext cx="3383280" cy="41148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Synthèse, limites globales, prochaines étapes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CONTEXTE &amp; MISSION</a:t>
            </a:r>
            <a:endParaRPr lang="en-US" sz="2200" dirty="0"/>
          </a:p>
        </p:txBody>
      </p:sp>
      <p:sp>
        <p:nvSpPr>
          <p:cNvPr id="4" name="Shape 2"/>
          <p:cNvSpPr/>
          <p:nvPr/>
        </p:nvSpPr>
        <p:spPr>
          <a:xfrm>
            <a:off x="365760" y="1051560"/>
            <a:ext cx="3931920" cy="356616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548640" y="1188720"/>
            <a:ext cx="356616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LE CLIENT</a:t>
            </a:r>
            <a:endParaRPr lang="en-US" sz="1300" dirty="0"/>
          </a:p>
        </p:txBody>
      </p:sp>
      <p:sp>
        <p:nvSpPr>
          <p:cNvPr id="6" name="Text 4"/>
          <p:cNvSpPr/>
          <p:nvPr/>
        </p:nvSpPr>
        <p:spPr>
          <a:xfrm>
            <a:off x="548640" y="1600200"/>
            <a:ext cx="3566160" cy="2834640"/>
          </a:xfrm>
          <a:prstGeom prst="rect">
            <a:avLst/>
          </a:prstGeom>
          <a:noFill/>
          <a:ln/>
        </p:spPr>
        <p:txBody>
          <a:bodyPr wrap="square"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Les Plus Beaux Logis de Paris</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Fonds d'investissement immobilier parisien</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Portefeuille : 275 biens (appartements + locaux commerciaux)</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Deux segments :</a:t>
            </a:r>
            <a:endParaRPr lang="en-US" sz="1200" dirty="0"/>
          </a:p>
          <a:p>
            <a:pPr marL="0" lvl="1" indent="0">
              <a:buNone/>
            </a:pPr>
            <a:r>
              <a:rPr lang="en-US" sz="1200" dirty="0">
                <a:solidFill>
                  <a:srgbClr val="4A4A6A"/>
                </a:solidFill>
                <a:latin typeface="Calibri" pitchFamily="34" charset="0"/>
                <a:ea typeface="Calibri" pitchFamily="34" charset="-122"/>
                <a:cs typeface="Calibri" pitchFamily="34" charset="-120"/>
              </a:rPr>
              <a:t>• Particuliers (appartements)</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Corporate (locaux commerciaux)</a:t>
            </a:r>
            <a:endParaRPr lang="en-US" sz="1200" dirty="0"/>
          </a:p>
        </p:txBody>
      </p:sp>
      <p:sp>
        <p:nvSpPr>
          <p:cNvPr id="7" name="Shape 5"/>
          <p:cNvSpPr/>
          <p:nvPr/>
        </p:nvSpPr>
        <p:spPr>
          <a:xfrm>
            <a:off x="4663440" y="1051560"/>
            <a:ext cx="4114800" cy="3566160"/>
          </a:xfrm>
          <a:prstGeom prst="rect">
            <a:avLst/>
          </a:prstGeom>
          <a:solidFill>
            <a:srgbClr val="F0F4FF"/>
          </a:solidFill>
          <a:ln w="12700">
            <a:solidFill>
              <a:srgbClr val="CADCFC"/>
            </a:solidFill>
            <a:prstDash val="solid"/>
          </a:ln>
        </p:spPr>
        <p:txBody>
          <a:bodyPr/>
          <a:lstStyle/>
          <a:p>
            <a:endParaRPr lang="fr-FR"/>
          </a:p>
        </p:txBody>
      </p:sp>
      <p:sp>
        <p:nvSpPr>
          <p:cNvPr id="8" name="Text 6"/>
          <p:cNvSpPr/>
          <p:nvPr/>
        </p:nvSpPr>
        <p:spPr>
          <a:xfrm>
            <a:off x="4846320" y="1188720"/>
            <a:ext cx="374904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OBJECTIFS DE LA MISSION</a:t>
            </a:r>
            <a:endParaRPr lang="en-US" sz="1300" dirty="0"/>
          </a:p>
        </p:txBody>
      </p:sp>
      <p:sp>
        <p:nvSpPr>
          <p:cNvPr id="9" name="Text 7"/>
          <p:cNvSpPr/>
          <p:nvPr/>
        </p:nvSpPr>
        <p:spPr>
          <a:xfrm>
            <a:off x="4846320" y="1600200"/>
            <a:ext cx="3749040" cy="2834640"/>
          </a:xfrm>
          <a:prstGeom prst="rect">
            <a:avLst/>
          </a:prstGeom>
          <a:noFill/>
          <a:ln/>
        </p:spPr>
        <p:txBody>
          <a:bodyPr wrap="square"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1. Analyser</a:t>
            </a:r>
            <a:r>
              <a:rPr lang="en-US" sz="1200" dirty="0">
                <a:solidFill>
                  <a:srgbClr val="4A4A6A"/>
                </a:solidFill>
                <a:latin typeface="Calibri" pitchFamily="34" charset="0"/>
                <a:ea typeface="Calibri" pitchFamily="34" charset="-122"/>
                <a:cs typeface="Calibri" pitchFamily="34" charset="-120"/>
              </a:rPr>
              <a:t> l'évolution du marché immobilier parisien (2017–2021)</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2. Construire</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un modèle de prédiction des prix (régression linéaire)</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3. Prédire</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la valorisation du portefeuille au 31/12/2022</a:t>
            </a:r>
            <a:endParaRPr lang="en-US" sz="1200" dirty="0"/>
          </a:p>
          <a:p>
            <a:pPr marL="0" indent="0">
              <a:buNone/>
            </a:pPr>
            <a:r>
              <a:rPr lang="en-US" sz="1200" b="1" dirty="0">
                <a:solidFill>
                  <a:srgbClr val="F96167"/>
                </a:solidFill>
                <a:latin typeface="Calibri" pitchFamily="34" charset="0"/>
                <a:ea typeface="Calibri" pitchFamily="34" charset="-122"/>
                <a:cs typeface="Calibri" pitchFamily="34" charset="-120"/>
              </a:rPr>
              <a:t>4. Classifier</a:t>
            </a:r>
            <a:endParaRPr lang="en-US" sz="1200" dirty="0"/>
          </a:p>
          <a:p>
            <a:pPr marL="0" indent="0">
              <a:buNone/>
            </a:pPr>
            <a:r>
              <a:rPr lang="en-US" sz="1200" dirty="0">
                <a:solidFill>
                  <a:srgbClr val="4A4A6A"/>
                </a:solidFill>
                <a:latin typeface="Calibri" pitchFamily="34" charset="0"/>
                <a:ea typeface="Calibri" pitchFamily="34" charset="-122"/>
                <a:cs typeface="Calibri" pitchFamily="34" charset="-120"/>
              </a:rPr>
              <a:t> automatiquement les biens (KMeans)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LES DONNÉES</a:t>
            </a:r>
            <a:endParaRPr lang="en-US" sz="2200" dirty="0"/>
          </a:p>
        </p:txBody>
      </p:sp>
      <p:sp>
        <p:nvSpPr>
          <p:cNvPr id="4" name="Shape 2"/>
          <p:cNvSpPr/>
          <p:nvPr/>
        </p:nvSpPr>
        <p:spPr>
          <a:xfrm>
            <a:off x="365760" y="1051560"/>
            <a:ext cx="1920240" cy="1463040"/>
          </a:xfrm>
          <a:prstGeom prst="rect">
            <a:avLst/>
          </a:prstGeom>
          <a:solidFill>
            <a:srgbClr val="1E2761"/>
          </a:solidFill>
          <a:ln/>
        </p:spPr>
        <p:txBody>
          <a:bodyPr/>
          <a:lstStyle/>
          <a:p>
            <a:endParaRPr lang="fr-FR"/>
          </a:p>
        </p:txBody>
      </p:sp>
      <p:sp>
        <p:nvSpPr>
          <p:cNvPr id="5" name="Text 3"/>
          <p:cNvSpPr/>
          <p:nvPr/>
        </p:nvSpPr>
        <p:spPr>
          <a:xfrm>
            <a:off x="36576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26 196</a:t>
            </a:r>
            <a:endParaRPr lang="en-US" sz="2600" dirty="0"/>
          </a:p>
        </p:txBody>
      </p:sp>
      <p:sp>
        <p:nvSpPr>
          <p:cNvPr id="6" name="Text 4"/>
          <p:cNvSpPr/>
          <p:nvPr/>
        </p:nvSpPr>
        <p:spPr>
          <a:xfrm>
            <a:off x="36576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transactions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(2017–2021)</a:t>
            </a:r>
            <a:endParaRPr lang="en-US" sz="1100" dirty="0"/>
          </a:p>
        </p:txBody>
      </p:sp>
      <p:sp>
        <p:nvSpPr>
          <p:cNvPr id="7" name="Shape 5"/>
          <p:cNvSpPr/>
          <p:nvPr/>
        </p:nvSpPr>
        <p:spPr>
          <a:xfrm>
            <a:off x="2468880" y="1051560"/>
            <a:ext cx="1920240" cy="1463040"/>
          </a:xfrm>
          <a:prstGeom prst="rect">
            <a:avLst/>
          </a:prstGeom>
          <a:solidFill>
            <a:srgbClr val="1E2761"/>
          </a:solidFill>
          <a:ln/>
        </p:spPr>
        <p:txBody>
          <a:bodyPr/>
          <a:lstStyle/>
          <a:p>
            <a:endParaRPr lang="fr-FR"/>
          </a:p>
        </p:txBody>
      </p:sp>
      <p:sp>
        <p:nvSpPr>
          <p:cNvPr id="8" name="Text 6"/>
          <p:cNvSpPr/>
          <p:nvPr/>
        </p:nvSpPr>
        <p:spPr>
          <a:xfrm>
            <a:off x="246888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24 353</a:t>
            </a:r>
            <a:endParaRPr lang="en-US" sz="2600" dirty="0"/>
          </a:p>
        </p:txBody>
      </p:sp>
      <p:sp>
        <p:nvSpPr>
          <p:cNvPr id="9" name="Text 7"/>
          <p:cNvSpPr/>
          <p:nvPr/>
        </p:nvSpPr>
        <p:spPr>
          <a:xfrm>
            <a:off x="246888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appartements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(93%)</a:t>
            </a:r>
            <a:endParaRPr lang="en-US" sz="1100" dirty="0"/>
          </a:p>
        </p:txBody>
      </p:sp>
      <p:sp>
        <p:nvSpPr>
          <p:cNvPr id="10" name="Shape 8"/>
          <p:cNvSpPr/>
          <p:nvPr/>
        </p:nvSpPr>
        <p:spPr>
          <a:xfrm>
            <a:off x="4572000" y="1051560"/>
            <a:ext cx="1920240" cy="1463040"/>
          </a:xfrm>
          <a:prstGeom prst="rect">
            <a:avLst/>
          </a:prstGeom>
          <a:solidFill>
            <a:srgbClr val="1E2761"/>
          </a:solidFill>
          <a:ln/>
        </p:spPr>
        <p:txBody>
          <a:bodyPr/>
          <a:lstStyle/>
          <a:p>
            <a:endParaRPr lang="fr-FR"/>
          </a:p>
        </p:txBody>
      </p:sp>
      <p:sp>
        <p:nvSpPr>
          <p:cNvPr id="11" name="Text 9"/>
          <p:cNvSpPr/>
          <p:nvPr/>
        </p:nvSpPr>
        <p:spPr>
          <a:xfrm>
            <a:off x="457200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1 843</a:t>
            </a:r>
            <a:endParaRPr lang="en-US" sz="2600" dirty="0"/>
          </a:p>
        </p:txBody>
      </p:sp>
      <p:sp>
        <p:nvSpPr>
          <p:cNvPr id="12" name="Text 10"/>
          <p:cNvSpPr/>
          <p:nvPr/>
        </p:nvSpPr>
        <p:spPr>
          <a:xfrm>
            <a:off x="457200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locaux commerciaux</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(7%)</a:t>
            </a:r>
            <a:endParaRPr lang="en-US" sz="1100" dirty="0"/>
          </a:p>
        </p:txBody>
      </p:sp>
      <p:sp>
        <p:nvSpPr>
          <p:cNvPr id="13" name="Shape 11"/>
          <p:cNvSpPr/>
          <p:nvPr/>
        </p:nvSpPr>
        <p:spPr>
          <a:xfrm>
            <a:off x="6675120" y="1051560"/>
            <a:ext cx="1920240" cy="1463040"/>
          </a:xfrm>
          <a:prstGeom prst="rect">
            <a:avLst/>
          </a:prstGeom>
          <a:solidFill>
            <a:srgbClr val="1E2761"/>
          </a:solidFill>
          <a:ln/>
        </p:spPr>
        <p:txBody>
          <a:bodyPr/>
          <a:lstStyle/>
          <a:p>
            <a:endParaRPr lang="fr-FR"/>
          </a:p>
        </p:txBody>
      </p:sp>
      <p:sp>
        <p:nvSpPr>
          <p:cNvPr id="14" name="Text 12"/>
          <p:cNvSpPr/>
          <p:nvPr/>
        </p:nvSpPr>
        <p:spPr>
          <a:xfrm>
            <a:off x="6675120" y="1143000"/>
            <a:ext cx="1920240" cy="73152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9</a:t>
            </a:r>
            <a:endParaRPr lang="en-US" sz="2600" dirty="0"/>
          </a:p>
        </p:txBody>
      </p:sp>
      <p:sp>
        <p:nvSpPr>
          <p:cNvPr id="15" name="Text 13"/>
          <p:cNvSpPr/>
          <p:nvPr/>
        </p:nvSpPr>
        <p:spPr>
          <a:xfrm>
            <a:off x="6675120" y="1828800"/>
            <a:ext cx="192024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variables</a:t>
            </a:r>
            <a:endParaRPr lang="en-US" sz="1100" dirty="0"/>
          </a:p>
          <a:p>
            <a:pPr marL="0" indent="0" algn="ctr">
              <a:buNone/>
            </a:pPr>
            <a:r>
              <a:rPr lang="en-US" sz="1100" dirty="0">
                <a:solidFill>
                  <a:srgbClr val="CADCFC"/>
                </a:solidFill>
                <a:latin typeface="Calibri" pitchFamily="34" charset="0"/>
                <a:ea typeface="Calibri" pitchFamily="34" charset="-122"/>
                <a:cs typeface="Calibri" pitchFamily="34" charset="-120"/>
              </a:rPr>
              <a:t>disponibles</a:t>
            </a:r>
            <a:endParaRPr lang="en-US" sz="1100" dirty="0"/>
          </a:p>
        </p:txBody>
      </p:sp>
      <p:sp>
        <p:nvSpPr>
          <p:cNvPr id="16" name="Text 14"/>
          <p:cNvSpPr/>
          <p:nvPr/>
        </p:nvSpPr>
        <p:spPr>
          <a:xfrm>
            <a:off x="365760" y="2743200"/>
            <a:ext cx="8229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Variables clés utilisées :</a:t>
            </a:r>
            <a:endParaRPr lang="en-US" sz="1300" dirty="0"/>
          </a:p>
        </p:txBody>
      </p:sp>
      <p:sp>
        <p:nvSpPr>
          <p:cNvPr id="17" name="Shape 15"/>
          <p:cNvSpPr/>
          <p:nvPr/>
        </p:nvSpPr>
        <p:spPr>
          <a:xfrm>
            <a:off x="365760" y="3154680"/>
            <a:ext cx="4114800" cy="347472"/>
          </a:xfrm>
          <a:prstGeom prst="rect">
            <a:avLst/>
          </a:prstGeom>
          <a:solidFill>
            <a:srgbClr val="F0F4FF"/>
          </a:solidFill>
          <a:ln w="6350">
            <a:solidFill>
              <a:srgbClr val="CADCFC"/>
            </a:solidFill>
            <a:prstDash val="solid"/>
          </a:ln>
        </p:spPr>
        <p:txBody>
          <a:bodyPr/>
          <a:lstStyle/>
          <a:p>
            <a:endParaRPr lang="fr-FR"/>
          </a:p>
        </p:txBody>
      </p:sp>
      <p:sp>
        <p:nvSpPr>
          <p:cNvPr id="18" name="Text 16"/>
          <p:cNvSpPr/>
          <p:nvPr/>
        </p:nvSpPr>
        <p:spPr>
          <a:xfrm>
            <a:off x="457200" y="317296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date_mutation</a:t>
            </a:r>
            <a:endParaRPr lang="en-US" sz="1000" dirty="0"/>
          </a:p>
        </p:txBody>
      </p:sp>
      <p:sp>
        <p:nvSpPr>
          <p:cNvPr id="19" name="Text 17"/>
          <p:cNvSpPr/>
          <p:nvPr/>
        </p:nvSpPr>
        <p:spPr>
          <a:xfrm>
            <a:off x="1828800" y="317296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Date de la transaction → timestamp numérique</a:t>
            </a:r>
            <a:endParaRPr lang="en-US" sz="1000" dirty="0"/>
          </a:p>
        </p:txBody>
      </p:sp>
      <p:sp>
        <p:nvSpPr>
          <p:cNvPr id="20" name="Shape 18"/>
          <p:cNvSpPr/>
          <p:nvPr/>
        </p:nvSpPr>
        <p:spPr>
          <a:xfrm>
            <a:off x="365760" y="3520440"/>
            <a:ext cx="4114800" cy="347472"/>
          </a:xfrm>
          <a:prstGeom prst="rect">
            <a:avLst/>
          </a:prstGeom>
          <a:solidFill>
            <a:srgbClr val="FFFFFF"/>
          </a:solidFill>
          <a:ln w="6350">
            <a:solidFill>
              <a:srgbClr val="CADCFC"/>
            </a:solidFill>
            <a:prstDash val="solid"/>
          </a:ln>
        </p:spPr>
        <p:txBody>
          <a:bodyPr/>
          <a:lstStyle/>
          <a:p>
            <a:endParaRPr lang="fr-FR"/>
          </a:p>
        </p:txBody>
      </p:sp>
      <p:sp>
        <p:nvSpPr>
          <p:cNvPr id="21" name="Text 19"/>
          <p:cNvSpPr/>
          <p:nvPr/>
        </p:nvSpPr>
        <p:spPr>
          <a:xfrm>
            <a:off x="457200" y="353872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valeur_fonciere</a:t>
            </a:r>
            <a:endParaRPr lang="en-US" sz="1000" dirty="0"/>
          </a:p>
        </p:txBody>
      </p:sp>
      <p:sp>
        <p:nvSpPr>
          <p:cNvPr id="22" name="Text 20"/>
          <p:cNvSpPr/>
          <p:nvPr/>
        </p:nvSpPr>
        <p:spPr>
          <a:xfrm>
            <a:off x="1828800" y="353872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Prix de vente du bien (variable cible)</a:t>
            </a:r>
            <a:endParaRPr lang="en-US" sz="1000" dirty="0"/>
          </a:p>
        </p:txBody>
      </p:sp>
      <p:sp>
        <p:nvSpPr>
          <p:cNvPr id="23" name="Shape 21"/>
          <p:cNvSpPr/>
          <p:nvPr/>
        </p:nvSpPr>
        <p:spPr>
          <a:xfrm>
            <a:off x="365760" y="3886200"/>
            <a:ext cx="4114800" cy="347472"/>
          </a:xfrm>
          <a:prstGeom prst="rect">
            <a:avLst/>
          </a:prstGeom>
          <a:solidFill>
            <a:srgbClr val="F0F4FF"/>
          </a:solidFill>
          <a:ln w="6350">
            <a:solidFill>
              <a:srgbClr val="CADCFC"/>
            </a:solidFill>
            <a:prstDash val="solid"/>
          </a:ln>
        </p:spPr>
        <p:txBody>
          <a:bodyPr/>
          <a:lstStyle/>
          <a:p>
            <a:endParaRPr lang="fr-FR"/>
          </a:p>
        </p:txBody>
      </p:sp>
      <p:sp>
        <p:nvSpPr>
          <p:cNvPr id="24" name="Text 22"/>
          <p:cNvSpPr/>
          <p:nvPr/>
        </p:nvSpPr>
        <p:spPr>
          <a:xfrm>
            <a:off x="457200" y="390448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surface_reelle</a:t>
            </a:r>
            <a:endParaRPr lang="en-US" sz="1000" dirty="0"/>
          </a:p>
        </p:txBody>
      </p:sp>
      <p:sp>
        <p:nvSpPr>
          <p:cNvPr id="25" name="Text 23"/>
          <p:cNvSpPr/>
          <p:nvPr/>
        </p:nvSpPr>
        <p:spPr>
          <a:xfrm>
            <a:off x="1828800" y="390448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Surface en m²</a:t>
            </a:r>
            <a:endParaRPr lang="en-US" sz="1000" dirty="0"/>
          </a:p>
        </p:txBody>
      </p:sp>
      <p:sp>
        <p:nvSpPr>
          <p:cNvPr id="26" name="Shape 24"/>
          <p:cNvSpPr/>
          <p:nvPr/>
        </p:nvSpPr>
        <p:spPr>
          <a:xfrm>
            <a:off x="4754880" y="3154680"/>
            <a:ext cx="4114800" cy="347472"/>
          </a:xfrm>
          <a:prstGeom prst="rect">
            <a:avLst/>
          </a:prstGeom>
          <a:solidFill>
            <a:srgbClr val="FFFFFF"/>
          </a:solidFill>
          <a:ln w="6350">
            <a:solidFill>
              <a:srgbClr val="CADCFC"/>
            </a:solidFill>
            <a:prstDash val="solid"/>
          </a:ln>
        </p:spPr>
        <p:txBody>
          <a:bodyPr/>
          <a:lstStyle/>
          <a:p>
            <a:endParaRPr lang="fr-FR"/>
          </a:p>
        </p:txBody>
      </p:sp>
      <p:sp>
        <p:nvSpPr>
          <p:cNvPr id="27" name="Text 25"/>
          <p:cNvSpPr/>
          <p:nvPr/>
        </p:nvSpPr>
        <p:spPr>
          <a:xfrm>
            <a:off x="4846320" y="317296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code_postal</a:t>
            </a:r>
            <a:endParaRPr lang="en-US" sz="1000" dirty="0"/>
          </a:p>
        </p:txBody>
      </p:sp>
      <p:sp>
        <p:nvSpPr>
          <p:cNvPr id="28" name="Text 26"/>
          <p:cNvSpPr/>
          <p:nvPr/>
        </p:nvSpPr>
        <p:spPr>
          <a:xfrm>
            <a:off x="6217920" y="317296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Arrondissement (1 à 20) → One Hot Encoded</a:t>
            </a:r>
            <a:endParaRPr lang="en-US" sz="1000" dirty="0"/>
          </a:p>
        </p:txBody>
      </p:sp>
      <p:sp>
        <p:nvSpPr>
          <p:cNvPr id="29" name="Shape 27"/>
          <p:cNvSpPr/>
          <p:nvPr/>
        </p:nvSpPr>
        <p:spPr>
          <a:xfrm>
            <a:off x="4754880" y="3520440"/>
            <a:ext cx="4114800" cy="347472"/>
          </a:xfrm>
          <a:prstGeom prst="rect">
            <a:avLst/>
          </a:prstGeom>
          <a:solidFill>
            <a:srgbClr val="F0F4FF"/>
          </a:solidFill>
          <a:ln w="6350">
            <a:solidFill>
              <a:srgbClr val="CADCFC"/>
            </a:solidFill>
            <a:prstDash val="solid"/>
          </a:ln>
        </p:spPr>
        <p:txBody>
          <a:bodyPr/>
          <a:lstStyle/>
          <a:p>
            <a:endParaRPr lang="fr-FR"/>
          </a:p>
        </p:txBody>
      </p:sp>
      <p:sp>
        <p:nvSpPr>
          <p:cNvPr id="30" name="Text 28"/>
          <p:cNvSpPr/>
          <p:nvPr/>
        </p:nvSpPr>
        <p:spPr>
          <a:xfrm>
            <a:off x="4846320" y="3538728"/>
            <a:ext cx="1371600" cy="310896"/>
          </a:xfrm>
          <a:prstGeom prst="rect">
            <a:avLst/>
          </a:prstGeom>
          <a:noFill/>
          <a:ln/>
        </p:spPr>
        <p:txBody>
          <a:bodyPr wrap="square" rtlCol="0" anchor="ctr"/>
          <a:lstStyle/>
          <a:p>
            <a:pPr marL="0" indent="0">
              <a:buNone/>
            </a:pPr>
            <a:r>
              <a:rPr lang="en-US" sz="1000" b="1" dirty="0">
                <a:solidFill>
                  <a:srgbClr val="F96167"/>
                </a:solidFill>
                <a:latin typeface="Calibri" pitchFamily="34" charset="0"/>
                <a:ea typeface="Calibri" pitchFamily="34" charset="-122"/>
                <a:cs typeface="Calibri" pitchFamily="34" charset="-120"/>
              </a:rPr>
              <a:t>type_local</a:t>
            </a:r>
            <a:endParaRPr lang="en-US" sz="1000" dirty="0"/>
          </a:p>
        </p:txBody>
      </p:sp>
      <p:sp>
        <p:nvSpPr>
          <p:cNvPr id="31" name="Text 29"/>
          <p:cNvSpPr/>
          <p:nvPr/>
        </p:nvSpPr>
        <p:spPr>
          <a:xfrm>
            <a:off x="6217920" y="3538728"/>
            <a:ext cx="2560320" cy="310896"/>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Appartement ou Local commercial → One Hot Encoded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ANALYSE DU MARCHÉ (2017–2021)</a:t>
            </a:r>
            <a:endParaRPr lang="en-US" sz="2200" dirty="0"/>
          </a:p>
        </p:txBody>
      </p:sp>
      <p:sp>
        <p:nvSpPr>
          <p:cNvPr id="4" name="Text 2"/>
          <p:cNvSpPr/>
          <p:nvPr/>
        </p:nvSpPr>
        <p:spPr>
          <a:xfrm>
            <a:off x="365760" y="1005840"/>
            <a:ext cx="841248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Évolution du prix moyen au m² des appartements à Paris</a:t>
            </a:r>
            <a:endParaRPr lang="en-US" sz="1300" dirty="0"/>
          </a:p>
        </p:txBody>
      </p:sp>
      <p:sp>
        <p:nvSpPr>
          <p:cNvPr id="5" name="Shape 3"/>
          <p:cNvSpPr/>
          <p:nvPr/>
        </p:nvSpPr>
        <p:spPr>
          <a:xfrm>
            <a:off x="731520" y="1738640"/>
            <a:ext cx="1097280" cy="1736080"/>
          </a:xfrm>
          <a:prstGeom prst="rect">
            <a:avLst/>
          </a:prstGeom>
          <a:solidFill>
            <a:srgbClr val="1E2761"/>
          </a:solidFill>
          <a:ln/>
        </p:spPr>
        <p:txBody>
          <a:bodyPr/>
          <a:lstStyle/>
          <a:p>
            <a:endParaRPr lang="fr-FR"/>
          </a:p>
        </p:txBody>
      </p:sp>
      <p:sp>
        <p:nvSpPr>
          <p:cNvPr id="6" name="Text 4"/>
          <p:cNvSpPr/>
          <p:nvPr/>
        </p:nvSpPr>
        <p:spPr>
          <a:xfrm>
            <a:off x="731520" y="1418600"/>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€9 493</a:t>
            </a:r>
            <a:endParaRPr lang="en-US" sz="1000" dirty="0"/>
          </a:p>
        </p:txBody>
      </p:sp>
      <p:sp>
        <p:nvSpPr>
          <p:cNvPr id="7" name="Text 5"/>
          <p:cNvSpPr/>
          <p:nvPr/>
        </p:nvSpPr>
        <p:spPr>
          <a:xfrm>
            <a:off x="73152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2017</a:t>
            </a:r>
            <a:endParaRPr lang="en-US" sz="1100" dirty="0"/>
          </a:p>
        </p:txBody>
      </p:sp>
      <p:sp>
        <p:nvSpPr>
          <p:cNvPr id="8" name="Shape 6"/>
          <p:cNvSpPr/>
          <p:nvPr/>
        </p:nvSpPr>
        <p:spPr>
          <a:xfrm>
            <a:off x="2286000" y="1640251"/>
            <a:ext cx="1097280" cy="1834469"/>
          </a:xfrm>
          <a:prstGeom prst="rect">
            <a:avLst/>
          </a:prstGeom>
          <a:solidFill>
            <a:srgbClr val="1E2761"/>
          </a:solidFill>
          <a:ln/>
        </p:spPr>
        <p:txBody>
          <a:bodyPr/>
          <a:lstStyle/>
          <a:p>
            <a:endParaRPr lang="fr-FR"/>
          </a:p>
        </p:txBody>
      </p:sp>
      <p:sp>
        <p:nvSpPr>
          <p:cNvPr id="9" name="Text 7"/>
          <p:cNvSpPr/>
          <p:nvPr/>
        </p:nvSpPr>
        <p:spPr>
          <a:xfrm>
            <a:off x="2286000" y="1320211"/>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€10 031</a:t>
            </a:r>
            <a:endParaRPr lang="en-US" sz="1000" dirty="0"/>
          </a:p>
        </p:txBody>
      </p:sp>
      <p:sp>
        <p:nvSpPr>
          <p:cNvPr id="10" name="Text 8"/>
          <p:cNvSpPr/>
          <p:nvPr/>
        </p:nvSpPr>
        <p:spPr>
          <a:xfrm>
            <a:off x="228600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2018</a:t>
            </a:r>
            <a:endParaRPr lang="en-US" sz="1100" dirty="0"/>
          </a:p>
        </p:txBody>
      </p:sp>
      <p:sp>
        <p:nvSpPr>
          <p:cNvPr id="11" name="Shape 9"/>
          <p:cNvSpPr/>
          <p:nvPr/>
        </p:nvSpPr>
        <p:spPr>
          <a:xfrm>
            <a:off x="3840480" y="1542959"/>
            <a:ext cx="1097280" cy="1931761"/>
          </a:xfrm>
          <a:prstGeom prst="rect">
            <a:avLst/>
          </a:prstGeom>
          <a:solidFill>
            <a:srgbClr val="F96167"/>
          </a:solidFill>
          <a:ln/>
        </p:spPr>
        <p:txBody>
          <a:bodyPr/>
          <a:lstStyle/>
          <a:p>
            <a:endParaRPr lang="fr-FR"/>
          </a:p>
        </p:txBody>
      </p:sp>
      <p:sp>
        <p:nvSpPr>
          <p:cNvPr id="12" name="Text 10"/>
          <p:cNvSpPr/>
          <p:nvPr/>
        </p:nvSpPr>
        <p:spPr>
          <a:xfrm>
            <a:off x="3840480" y="1222919"/>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€10 563</a:t>
            </a:r>
            <a:endParaRPr lang="en-US" sz="1000" dirty="0"/>
          </a:p>
        </p:txBody>
      </p:sp>
      <p:sp>
        <p:nvSpPr>
          <p:cNvPr id="13" name="Text 11"/>
          <p:cNvSpPr/>
          <p:nvPr/>
        </p:nvSpPr>
        <p:spPr>
          <a:xfrm>
            <a:off x="384048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2019</a:t>
            </a:r>
            <a:endParaRPr lang="en-US" sz="1100" dirty="0"/>
          </a:p>
        </p:txBody>
      </p:sp>
      <p:sp>
        <p:nvSpPr>
          <p:cNvPr id="14" name="Shape 12"/>
          <p:cNvSpPr/>
          <p:nvPr/>
        </p:nvSpPr>
        <p:spPr>
          <a:xfrm>
            <a:off x="5394960" y="1522476"/>
            <a:ext cx="1097280" cy="1952244"/>
          </a:xfrm>
          <a:prstGeom prst="rect">
            <a:avLst/>
          </a:prstGeom>
          <a:solidFill>
            <a:srgbClr val="1E2761"/>
          </a:solidFill>
          <a:ln/>
        </p:spPr>
        <p:txBody>
          <a:bodyPr/>
          <a:lstStyle/>
          <a:p>
            <a:endParaRPr lang="fr-FR"/>
          </a:p>
        </p:txBody>
      </p:sp>
      <p:sp>
        <p:nvSpPr>
          <p:cNvPr id="15" name="Text 13"/>
          <p:cNvSpPr/>
          <p:nvPr/>
        </p:nvSpPr>
        <p:spPr>
          <a:xfrm>
            <a:off x="5394960" y="1202436"/>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€10 675</a:t>
            </a:r>
            <a:endParaRPr lang="en-US" sz="1000" dirty="0"/>
          </a:p>
        </p:txBody>
      </p:sp>
      <p:sp>
        <p:nvSpPr>
          <p:cNvPr id="16" name="Text 14"/>
          <p:cNvSpPr/>
          <p:nvPr/>
        </p:nvSpPr>
        <p:spPr>
          <a:xfrm>
            <a:off x="539496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2020</a:t>
            </a:r>
            <a:endParaRPr lang="en-US" sz="1100" dirty="0"/>
          </a:p>
        </p:txBody>
      </p:sp>
      <p:sp>
        <p:nvSpPr>
          <p:cNvPr id="17" name="Shape 15"/>
          <p:cNvSpPr/>
          <p:nvPr/>
        </p:nvSpPr>
        <p:spPr>
          <a:xfrm>
            <a:off x="6949440" y="1562527"/>
            <a:ext cx="1097280" cy="1912193"/>
          </a:xfrm>
          <a:prstGeom prst="rect">
            <a:avLst/>
          </a:prstGeom>
          <a:solidFill>
            <a:srgbClr val="1E2761"/>
          </a:solidFill>
          <a:ln/>
        </p:spPr>
        <p:txBody>
          <a:bodyPr/>
          <a:lstStyle/>
          <a:p>
            <a:endParaRPr lang="fr-FR"/>
          </a:p>
        </p:txBody>
      </p:sp>
      <p:sp>
        <p:nvSpPr>
          <p:cNvPr id="18" name="Text 16"/>
          <p:cNvSpPr/>
          <p:nvPr/>
        </p:nvSpPr>
        <p:spPr>
          <a:xfrm>
            <a:off x="6949440" y="1242487"/>
            <a:ext cx="1097280" cy="292608"/>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€10 456</a:t>
            </a:r>
            <a:endParaRPr lang="en-US" sz="1000" dirty="0"/>
          </a:p>
        </p:txBody>
      </p:sp>
      <p:sp>
        <p:nvSpPr>
          <p:cNvPr id="19" name="Text 17"/>
          <p:cNvSpPr/>
          <p:nvPr/>
        </p:nvSpPr>
        <p:spPr>
          <a:xfrm>
            <a:off x="6949440" y="3520440"/>
            <a:ext cx="1097280" cy="274320"/>
          </a:xfrm>
          <a:prstGeom prst="rect">
            <a:avLst/>
          </a:prstGeom>
          <a:noFill/>
          <a:ln/>
        </p:spPr>
        <p:txBody>
          <a:bodyPr wrap="square" rtlCol="0" anchor="ctr"/>
          <a:lstStyle/>
          <a:p>
            <a:pPr marL="0" indent="0" algn="ctr">
              <a:buNone/>
            </a:pPr>
            <a:r>
              <a:rPr lang="en-US" sz="1100" dirty="0">
                <a:solidFill>
                  <a:srgbClr val="4A4A6A"/>
                </a:solidFill>
                <a:latin typeface="Calibri" pitchFamily="34" charset="0"/>
                <a:ea typeface="Calibri" pitchFamily="34" charset="-122"/>
                <a:cs typeface="Calibri" pitchFamily="34" charset="-120"/>
              </a:rPr>
              <a:t>2021</a:t>
            </a:r>
            <a:endParaRPr lang="en-US" sz="1100" dirty="0"/>
          </a:p>
        </p:txBody>
      </p:sp>
      <p:sp>
        <p:nvSpPr>
          <p:cNvPr id="20" name="Shape 18"/>
          <p:cNvSpPr/>
          <p:nvPr/>
        </p:nvSpPr>
        <p:spPr>
          <a:xfrm>
            <a:off x="365760" y="3886200"/>
            <a:ext cx="8412480" cy="914400"/>
          </a:xfrm>
          <a:prstGeom prst="rect">
            <a:avLst/>
          </a:prstGeom>
          <a:solidFill>
            <a:srgbClr val="F0F4FF"/>
          </a:solidFill>
          <a:ln w="12700">
            <a:solidFill>
              <a:srgbClr val="CADCFC"/>
            </a:solidFill>
            <a:prstDash val="solid"/>
          </a:ln>
        </p:spPr>
        <p:txBody>
          <a:bodyPr/>
          <a:lstStyle/>
          <a:p>
            <a:endParaRPr lang="fr-FR"/>
          </a:p>
        </p:txBody>
      </p:sp>
      <p:sp>
        <p:nvSpPr>
          <p:cNvPr id="21" name="Text 19"/>
          <p:cNvSpPr/>
          <p:nvPr/>
        </p:nvSpPr>
        <p:spPr>
          <a:xfrm>
            <a:off x="548640" y="3977640"/>
            <a:ext cx="8046720" cy="731520"/>
          </a:xfrm>
          <a:prstGeom prst="rect">
            <a:avLst/>
          </a:prstGeom>
          <a:noFill/>
          <a:ln/>
        </p:spPr>
        <p:txBody>
          <a:bodyPr wrap="square"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 +12,4%</a:t>
            </a:r>
            <a:r>
              <a:rPr lang="en-US" sz="1100" dirty="0">
                <a:solidFill>
                  <a:srgbClr val="4A4A6A"/>
                </a:solidFill>
                <a:latin typeface="Calibri" pitchFamily="34" charset="0"/>
                <a:ea typeface="Calibri" pitchFamily="34" charset="-122"/>
                <a:cs typeface="Calibri" pitchFamily="34" charset="-120"/>
              </a:rPr>
              <a:t> de hausse entre 2017 et 2020   |   </a:t>
            </a:r>
            <a:r>
              <a:rPr lang="en-US" sz="1100" b="1" dirty="0">
                <a:solidFill>
                  <a:srgbClr val="1E2761"/>
                </a:solidFill>
                <a:latin typeface="Calibri" pitchFamily="34" charset="0"/>
                <a:ea typeface="Calibri" pitchFamily="34" charset="-122"/>
                <a:cs typeface="Calibri" pitchFamily="34" charset="-120"/>
              </a:rPr>
              <a:t>⚠️ Légère baisse en 2021</a:t>
            </a:r>
            <a:r>
              <a:rPr lang="en-US" sz="1100" dirty="0">
                <a:solidFill>
                  <a:srgbClr val="4A4A6A"/>
                </a:solidFill>
                <a:latin typeface="Calibri" pitchFamily="34" charset="0"/>
                <a:ea typeface="Calibri" pitchFamily="34" charset="-122"/>
                <a:cs typeface="Calibri" pitchFamily="34" charset="-120"/>
              </a:rPr>
              <a:t> (probable effet post-COVID)   |   </a:t>
            </a:r>
            <a:r>
              <a:rPr lang="en-US" sz="1100" b="1" dirty="0">
                <a:solidFill>
                  <a:srgbClr val="1E2761"/>
                </a:solidFill>
                <a:latin typeface="Calibri" pitchFamily="34" charset="0"/>
                <a:ea typeface="Calibri" pitchFamily="34" charset="-122"/>
                <a:cs typeface="Calibri" pitchFamily="34" charset="-120"/>
              </a:rPr>
              <a:t>Variable clé :</a:t>
            </a:r>
            <a:r>
              <a:rPr lang="en-US" sz="1100" dirty="0">
                <a:solidFill>
                  <a:srgbClr val="4A4A6A"/>
                </a:solidFill>
                <a:latin typeface="Calibri" pitchFamily="34" charset="0"/>
                <a:ea typeface="Calibri" pitchFamily="34" charset="-122"/>
                <a:cs typeface="Calibri" pitchFamily="34" charset="-120"/>
              </a:rPr>
              <a:t> la localisation (arrondissement) explique des écarts jusqu'à 4 000€/m²</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CORRÉLATIONS &amp; VARIABLES RETENUES</a:t>
            </a:r>
            <a:endParaRPr lang="en-US" sz="2200" dirty="0"/>
          </a:p>
        </p:txBody>
      </p:sp>
      <p:sp>
        <p:nvSpPr>
          <p:cNvPr id="4" name="Shape 2"/>
          <p:cNvSpPr/>
          <p:nvPr/>
        </p:nvSpPr>
        <p:spPr>
          <a:xfrm>
            <a:off x="365760" y="1097280"/>
            <a:ext cx="8412480" cy="1188720"/>
          </a:xfrm>
          <a:prstGeom prst="rect">
            <a:avLst/>
          </a:prstGeom>
          <a:solidFill>
            <a:srgbClr val="F0F4FF"/>
          </a:solidFill>
          <a:ln w="25400">
            <a:solidFill>
              <a:srgbClr val="2C5F2D"/>
            </a:solidFill>
            <a:prstDash val="solid"/>
          </a:ln>
        </p:spPr>
        <p:txBody>
          <a:bodyPr/>
          <a:lstStyle/>
          <a:p>
            <a:endParaRPr lang="fr-FR"/>
          </a:p>
        </p:txBody>
      </p:sp>
      <p:sp>
        <p:nvSpPr>
          <p:cNvPr id="5" name="Text 3"/>
          <p:cNvSpPr/>
          <p:nvPr/>
        </p:nvSpPr>
        <p:spPr>
          <a:xfrm>
            <a:off x="548640" y="1188720"/>
            <a:ext cx="27432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Prix m² ↔ Date</a:t>
            </a:r>
            <a:endParaRPr lang="en-US" sz="1300" dirty="0"/>
          </a:p>
        </p:txBody>
      </p:sp>
      <p:sp>
        <p:nvSpPr>
          <p:cNvPr id="6" name="Text 4"/>
          <p:cNvSpPr/>
          <p:nvPr/>
        </p:nvSpPr>
        <p:spPr>
          <a:xfrm>
            <a:off x="3383280" y="1188720"/>
            <a:ext cx="1371600" cy="365760"/>
          </a:xfrm>
          <a:prstGeom prst="rect">
            <a:avLst/>
          </a:prstGeom>
          <a:noFill/>
          <a:ln/>
        </p:spPr>
        <p:txBody>
          <a:bodyPr wrap="square"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r = 0,90</a:t>
            </a:r>
            <a:endParaRPr lang="en-US" sz="2200" dirty="0"/>
          </a:p>
        </p:txBody>
      </p:sp>
      <p:sp>
        <p:nvSpPr>
          <p:cNvPr id="7" name="Text 5"/>
          <p:cNvSpPr/>
          <p:nvPr/>
        </p:nvSpPr>
        <p:spPr>
          <a:xfrm>
            <a:off x="4846320" y="1188720"/>
            <a:ext cx="1645920" cy="365760"/>
          </a:xfrm>
          <a:prstGeom prst="rect">
            <a:avLst/>
          </a:prstGeom>
          <a:noFill/>
          <a:ln/>
        </p:spPr>
        <p:txBody>
          <a:bodyPr wrap="square" rtlCol="0" anchor="ctr"/>
          <a:lstStyle/>
          <a:p>
            <a:pPr marL="0" indent="0" algn="ctr">
              <a:buNone/>
            </a:pPr>
            <a:r>
              <a:rPr lang="en-US" sz="1200" dirty="0">
                <a:solidFill>
                  <a:srgbClr val="2C5F2D"/>
                </a:solidFill>
                <a:latin typeface="Calibri" pitchFamily="34" charset="0"/>
                <a:ea typeface="Calibri" pitchFamily="34" charset="-122"/>
                <a:cs typeface="Calibri" pitchFamily="34" charset="-120"/>
              </a:rPr>
              <a:t>p-value &lt; 0,05</a:t>
            </a:r>
            <a:endParaRPr lang="en-US" sz="1200" dirty="0"/>
          </a:p>
        </p:txBody>
      </p:sp>
      <p:sp>
        <p:nvSpPr>
          <p:cNvPr id="8" name="Text 6"/>
          <p:cNvSpPr/>
          <p:nvPr/>
        </p:nvSpPr>
        <p:spPr>
          <a:xfrm>
            <a:off x="6583680" y="1188720"/>
            <a:ext cx="2011680" cy="36576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Corrélation confirmée</a:t>
            </a:r>
            <a:endParaRPr lang="en-US" sz="1100" dirty="0"/>
          </a:p>
        </p:txBody>
      </p:sp>
      <p:sp>
        <p:nvSpPr>
          <p:cNvPr id="9" name="Text 7"/>
          <p:cNvSpPr/>
          <p:nvPr/>
        </p:nvSpPr>
        <p:spPr>
          <a:xfrm>
            <a:off x="548640" y="1783080"/>
            <a:ext cx="8046720" cy="365760"/>
          </a:xfrm>
          <a:prstGeom prst="rect">
            <a:avLst/>
          </a:prstGeom>
          <a:noFill/>
          <a:ln/>
        </p:spPr>
        <p:txBody>
          <a:bodyPr wrap="square" rtlCol="0" anchor="ctr"/>
          <a:lstStyle/>
          <a:p>
            <a:pPr marL="0" indent="0">
              <a:buNone/>
            </a:pPr>
            <a:r>
              <a:rPr lang="en-US" sz="1100" i="1" dirty="0">
                <a:solidFill>
                  <a:srgbClr val="4A4A6A"/>
                </a:solidFill>
                <a:latin typeface="Calibri" pitchFamily="34" charset="0"/>
                <a:ea typeface="Calibri" pitchFamily="34" charset="-122"/>
                <a:cs typeface="Calibri" pitchFamily="34" charset="-120"/>
              </a:rPr>
              <a:t>Le temps influence fortement le prix</a:t>
            </a:r>
            <a:endParaRPr lang="en-US" sz="1100" dirty="0"/>
          </a:p>
        </p:txBody>
      </p:sp>
      <p:sp>
        <p:nvSpPr>
          <p:cNvPr id="10" name="Shape 8"/>
          <p:cNvSpPr/>
          <p:nvPr/>
        </p:nvSpPr>
        <p:spPr>
          <a:xfrm>
            <a:off x="365760" y="2468880"/>
            <a:ext cx="8412480" cy="1188720"/>
          </a:xfrm>
          <a:prstGeom prst="rect">
            <a:avLst/>
          </a:prstGeom>
          <a:solidFill>
            <a:srgbClr val="F0F4FF"/>
          </a:solidFill>
          <a:ln w="25400">
            <a:solidFill>
              <a:srgbClr val="2C5F2D"/>
            </a:solidFill>
            <a:prstDash val="solid"/>
          </a:ln>
        </p:spPr>
        <p:txBody>
          <a:bodyPr/>
          <a:lstStyle/>
          <a:p>
            <a:endParaRPr lang="fr-FR"/>
          </a:p>
        </p:txBody>
      </p:sp>
      <p:sp>
        <p:nvSpPr>
          <p:cNvPr id="11" name="Text 9"/>
          <p:cNvSpPr/>
          <p:nvPr/>
        </p:nvSpPr>
        <p:spPr>
          <a:xfrm>
            <a:off x="548640" y="2560320"/>
            <a:ext cx="27432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Valeur foncière ↔ Surface</a:t>
            </a:r>
            <a:endParaRPr lang="en-US" sz="1300" dirty="0"/>
          </a:p>
        </p:txBody>
      </p:sp>
      <p:sp>
        <p:nvSpPr>
          <p:cNvPr id="12" name="Text 10"/>
          <p:cNvSpPr/>
          <p:nvPr/>
        </p:nvSpPr>
        <p:spPr>
          <a:xfrm>
            <a:off x="3383280" y="2560320"/>
            <a:ext cx="1371600" cy="365760"/>
          </a:xfrm>
          <a:prstGeom prst="rect">
            <a:avLst/>
          </a:prstGeom>
          <a:noFill/>
          <a:ln/>
        </p:spPr>
        <p:txBody>
          <a:bodyPr wrap="square"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r = 0,99</a:t>
            </a:r>
            <a:endParaRPr lang="en-US" sz="2200" dirty="0"/>
          </a:p>
        </p:txBody>
      </p:sp>
      <p:sp>
        <p:nvSpPr>
          <p:cNvPr id="13" name="Text 11"/>
          <p:cNvSpPr/>
          <p:nvPr/>
        </p:nvSpPr>
        <p:spPr>
          <a:xfrm>
            <a:off x="4846320" y="2560320"/>
            <a:ext cx="1645920" cy="365760"/>
          </a:xfrm>
          <a:prstGeom prst="rect">
            <a:avLst/>
          </a:prstGeom>
          <a:noFill/>
          <a:ln/>
        </p:spPr>
        <p:txBody>
          <a:bodyPr wrap="square" rtlCol="0" anchor="ctr"/>
          <a:lstStyle/>
          <a:p>
            <a:pPr marL="0" indent="0" algn="ctr">
              <a:buNone/>
            </a:pPr>
            <a:r>
              <a:rPr lang="en-US" sz="1200" dirty="0">
                <a:solidFill>
                  <a:srgbClr val="2C5F2D"/>
                </a:solidFill>
                <a:latin typeface="Calibri" pitchFamily="34" charset="0"/>
                <a:ea typeface="Calibri" pitchFamily="34" charset="-122"/>
                <a:cs typeface="Calibri" pitchFamily="34" charset="-120"/>
              </a:rPr>
              <a:t>p-value &lt; 0,05</a:t>
            </a:r>
            <a:endParaRPr lang="en-US" sz="1200" dirty="0"/>
          </a:p>
        </p:txBody>
      </p:sp>
      <p:sp>
        <p:nvSpPr>
          <p:cNvPr id="14" name="Text 12"/>
          <p:cNvSpPr/>
          <p:nvPr/>
        </p:nvSpPr>
        <p:spPr>
          <a:xfrm>
            <a:off x="6583680" y="2560320"/>
            <a:ext cx="2011680" cy="36576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Corrélation confirmée</a:t>
            </a:r>
            <a:endParaRPr lang="en-US" sz="1100" dirty="0"/>
          </a:p>
        </p:txBody>
      </p:sp>
      <p:sp>
        <p:nvSpPr>
          <p:cNvPr id="15" name="Text 13"/>
          <p:cNvSpPr/>
          <p:nvPr/>
        </p:nvSpPr>
        <p:spPr>
          <a:xfrm>
            <a:off x="548640" y="3154680"/>
            <a:ext cx="8046720" cy="365760"/>
          </a:xfrm>
          <a:prstGeom prst="rect">
            <a:avLst/>
          </a:prstGeom>
          <a:noFill/>
          <a:ln/>
        </p:spPr>
        <p:txBody>
          <a:bodyPr wrap="square" rtlCol="0" anchor="ctr"/>
          <a:lstStyle/>
          <a:p>
            <a:pPr marL="0" indent="0">
              <a:buNone/>
            </a:pPr>
            <a:r>
              <a:rPr lang="en-US" sz="1100" i="1" dirty="0">
                <a:solidFill>
                  <a:srgbClr val="4A4A6A"/>
                </a:solidFill>
                <a:latin typeface="Calibri" pitchFamily="34" charset="0"/>
                <a:ea typeface="Calibri" pitchFamily="34" charset="-122"/>
                <a:cs typeface="Calibri" pitchFamily="34" charset="-120"/>
              </a:rPr>
              <a:t>Plus le bien est grand, plus sa valeur est élevée</a:t>
            </a:r>
            <a:endParaRPr lang="en-US" sz="1100" dirty="0"/>
          </a:p>
        </p:txBody>
      </p:sp>
      <p:sp>
        <p:nvSpPr>
          <p:cNvPr id="16" name="Shape 14"/>
          <p:cNvSpPr/>
          <p:nvPr/>
        </p:nvSpPr>
        <p:spPr>
          <a:xfrm>
            <a:off x="365760" y="3840480"/>
            <a:ext cx="8412480" cy="1005840"/>
          </a:xfrm>
          <a:prstGeom prst="rect">
            <a:avLst/>
          </a:prstGeom>
          <a:solidFill>
            <a:srgbClr val="1E2761"/>
          </a:solidFill>
          <a:ln/>
        </p:spPr>
        <p:txBody>
          <a:bodyPr/>
          <a:lstStyle/>
          <a:p>
            <a:endParaRPr lang="fr-FR"/>
          </a:p>
        </p:txBody>
      </p:sp>
      <p:sp>
        <p:nvSpPr>
          <p:cNvPr id="17" name="Text 15"/>
          <p:cNvSpPr/>
          <p:nvPr/>
        </p:nvSpPr>
        <p:spPr>
          <a:xfrm>
            <a:off x="548640" y="3913632"/>
            <a:ext cx="822960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Variables retenues pour le modèle :</a:t>
            </a:r>
            <a:endParaRPr lang="en-US" sz="1200" dirty="0"/>
          </a:p>
        </p:txBody>
      </p:sp>
      <p:sp>
        <p:nvSpPr>
          <p:cNvPr id="18" name="Text 16"/>
          <p:cNvSpPr/>
          <p:nvPr/>
        </p:nvSpPr>
        <p:spPr>
          <a:xfrm>
            <a:off x="548640" y="4251960"/>
            <a:ext cx="8229600" cy="4572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Surface du bien  •  Date (timestamp)  •  Localisation (code postal)  •  Type de bien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MÉTHODOLOGIE : RÉGRESSION LINÉAIRE</a:t>
            </a:r>
            <a:endParaRPr lang="en-US" sz="2200" dirty="0"/>
          </a:p>
        </p:txBody>
      </p:sp>
      <p:sp>
        <p:nvSpPr>
          <p:cNvPr id="4" name="Shape 2"/>
          <p:cNvSpPr/>
          <p:nvPr/>
        </p:nvSpPr>
        <p:spPr>
          <a:xfrm>
            <a:off x="365760" y="1005840"/>
            <a:ext cx="640080" cy="640080"/>
          </a:xfrm>
          <a:prstGeom prst="rect">
            <a:avLst/>
          </a:prstGeom>
          <a:solidFill>
            <a:srgbClr val="F96167"/>
          </a:solidFill>
          <a:ln/>
        </p:spPr>
        <p:txBody>
          <a:bodyPr/>
          <a:lstStyle/>
          <a:p>
            <a:endParaRPr lang="fr-FR"/>
          </a:p>
        </p:txBody>
      </p:sp>
      <p:sp>
        <p:nvSpPr>
          <p:cNvPr id="5" name="Text 3"/>
          <p:cNvSpPr/>
          <p:nvPr/>
        </p:nvSpPr>
        <p:spPr>
          <a:xfrm>
            <a:off x="365760" y="100584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097280" y="1005840"/>
            <a:ext cx="7680960" cy="640080"/>
          </a:xfrm>
          <a:prstGeom prst="rect">
            <a:avLst/>
          </a:prstGeom>
          <a:solidFill>
            <a:srgbClr val="F0F4FF"/>
          </a:solidFill>
          <a:ln w="12700">
            <a:solidFill>
              <a:srgbClr val="CADCFC"/>
            </a:solidFill>
            <a:prstDash val="solid"/>
          </a:ln>
        </p:spPr>
        <p:txBody>
          <a:bodyPr/>
          <a:lstStyle/>
          <a:p>
            <a:endParaRPr lang="fr-FR"/>
          </a:p>
        </p:txBody>
      </p:sp>
      <p:sp>
        <p:nvSpPr>
          <p:cNvPr id="7" name="Text 5"/>
          <p:cNvSpPr/>
          <p:nvPr/>
        </p:nvSpPr>
        <p:spPr>
          <a:xfrm>
            <a:off x="1234440" y="105156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One Hot Encoding</a:t>
            </a:r>
            <a:endParaRPr lang="en-US" sz="1200" dirty="0"/>
          </a:p>
        </p:txBody>
      </p:sp>
      <p:sp>
        <p:nvSpPr>
          <p:cNvPr id="8" name="Text 6"/>
          <p:cNvSpPr/>
          <p:nvPr/>
        </p:nvSpPr>
        <p:spPr>
          <a:xfrm>
            <a:off x="1234440" y="134416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Transformation des variables textuelles (code postal, type de bien) en colonnes binaires 0/1 — indispensable pour un modèle mathématique</a:t>
            </a:r>
            <a:endParaRPr lang="en-US" sz="1000" dirty="0"/>
          </a:p>
        </p:txBody>
      </p:sp>
      <p:sp>
        <p:nvSpPr>
          <p:cNvPr id="9" name="Shape 7"/>
          <p:cNvSpPr/>
          <p:nvPr/>
        </p:nvSpPr>
        <p:spPr>
          <a:xfrm>
            <a:off x="365760" y="1965960"/>
            <a:ext cx="640080" cy="640080"/>
          </a:xfrm>
          <a:prstGeom prst="rect">
            <a:avLst/>
          </a:prstGeom>
          <a:solidFill>
            <a:srgbClr val="F96167"/>
          </a:solidFill>
          <a:ln/>
        </p:spPr>
        <p:txBody>
          <a:bodyPr/>
          <a:lstStyle/>
          <a:p>
            <a:endParaRPr lang="fr-FR"/>
          </a:p>
        </p:txBody>
      </p:sp>
      <p:sp>
        <p:nvSpPr>
          <p:cNvPr id="10" name="Text 8"/>
          <p:cNvSpPr/>
          <p:nvPr/>
        </p:nvSpPr>
        <p:spPr>
          <a:xfrm>
            <a:off x="365760" y="196596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Shape 9"/>
          <p:cNvSpPr/>
          <p:nvPr/>
        </p:nvSpPr>
        <p:spPr>
          <a:xfrm>
            <a:off x="1097280" y="1965960"/>
            <a:ext cx="7680960" cy="640080"/>
          </a:xfrm>
          <a:prstGeom prst="rect">
            <a:avLst/>
          </a:prstGeom>
          <a:solidFill>
            <a:srgbClr val="F0F4FF"/>
          </a:solidFill>
          <a:ln w="12700">
            <a:solidFill>
              <a:srgbClr val="CADCFC"/>
            </a:solidFill>
            <a:prstDash val="solid"/>
          </a:ln>
        </p:spPr>
        <p:txBody>
          <a:bodyPr/>
          <a:lstStyle/>
          <a:p>
            <a:endParaRPr lang="fr-FR"/>
          </a:p>
        </p:txBody>
      </p:sp>
      <p:sp>
        <p:nvSpPr>
          <p:cNvPr id="12" name="Text 10"/>
          <p:cNvSpPr/>
          <p:nvPr/>
        </p:nvSpPr>
        <p:spPr>
          <a:xfrm>
            <a:off x="1234440" y="201168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Séparation chronologique</a:t>
            </a:r>
            <a:endParaRPr lang="en-US" sz="1200" dirty="0"/>
          </a:p>
        </p:txBody>
      </p:sp>
      <p:sp>
        <p:nvSpPr>
          <p:cNvPr id="13" name="Text 11"/>
          <p:cNvSpPr/>
          <p:nvPr/>
        </p:nvSpPr>
        <p:spPr>
          <a:xfrm>
            <a:off x="1234440" y="230428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67% des données les plus anciennes → entraînement / 33% les plus récentes → test (respect de l'ordre temporel)</a:t>
            </a:r>
            <a:endParaRPr lang="en-US" sz="1000" dirty="0"/>
          </a:p>
        </p:txBody>
      </p:sp>
      <p:sp>
        <p:nvSpPr>
          <p:cNvPr id="14" name="Shape 12"/>
          <p:cNvSpPr/>
          <p:nvPr/>
        </p:nvSpPr>
        <p:spPr>
          <a:xfrm>
            <a:off x="365760" y="2926080"/>
            <a:ext cx="640080" cy="640080"/>
          </a:xfrm>
          <a:prstGeom prst="rect">
            <a:avLst/>
          </a:prstGeom>
          <a:solidFill>
            <a:srgbClr val="F96167"/>
          </a:solidFill>
          <a:ln/>
        </p:spPr>
        <p:txBody>
          <a:bodyPr/>
          <a:lstStyle/>
          <a:p>
            <a:endParaRPr lang="fr-FR"/>
          </a:p>
        </p:txBody>
      </p:sp>
      <p:sp>
        <p:nvSpPr>
          <p:cNvPr id="15" name="Text 13"/>
          <p:cNvSpPr/>
          <p:nvPr/>
        </p:nvSpPr>
        <p:spPr>
          <a:xfrm>
            <a:off x="365760" y="292608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Shape 14"/>
          <p:cNvSpPr/>
          <p:nvPr/>
        </p:nvSpPr>
        <p:spPr>
          <a:xfrm>
            <a:off x="1097280" y="2926080"/>
            <a:ext cx="7680960" cy="640080"/>
          </a:xfrm>
          <a:prstGeom prst="rect">
            <a:avLst/>
          </a:prstGeom>
          <a:solidFill>
            <a:srgbClr val="F0F4FF"/>
          </a:solidFill>
          <a:ln w="12700">
            <a:solidFill>
              <a:srgbClr val="CADCFC"/>
            </a:solidFill>
            <a:prstDash val="solid"/>
          </a:ln>
        </p:spPr>
        <p:txBody>
          <a:bodyPr/>
          <a:lstStyle/>
          <a:p>
            <a:endParaRPr lang="fr-FR"/>
          </a:p>
        </p:txBody>
      </p:sp>
      <p:sp>
        <p:nvSpPr>
          <p:cNvPr id="17" name="Text 15"/>
          <p:cNvSpPr/>
          <p:nvPr/>
        </p:nvSpPr>
        <p:spPr>
          <a:xfrm>
            <a:off x="1234440" y="297180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Entraînement</a:t>
            </a:r>
            <a:endParaRPr lang="en-US" sz="1200" dirty="0"/>
          </a:p>
        </p:txBody>
      </p:sp>
      <p:sp>
        <p:nvSpPr>
          <p:cNvPr id="18" name="Text 16"/>
          <p:cNvSpPr/>
          <p:nvPr/>
        </p:nvSpPr>
        <p:spPr>
          <a:xfrm>
            <a:off x="1234440" y="326440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L'algorithme calcule les coefficients qui relient surface, date, localisation et type de bien à la valeur foncière</a:t>
            </a:r>
            <a:endParaRPr lang="en-US" sz="1000" dirty="0"/>
          </a:p>
        </p:txBody>
      </p:sp>
      <p:sp>
        <p:nvSpPr>
          <p:cNvPr id="19" name="Shape 17"/>
          <p:cNvSpPr/>
          <p:nvPr/>
        </p:nvSpPr>
        <p:spPr>
          <a:xfrm>
            <a:off x="365760" y="3886200"/>
            <a:ext cx="640080" cy="640080"/>
          </a:xfrm>
          <a:prstGeom prst="rect">
            <a:avLst/>
          </a:prstGeom>
          <a:solidFill>
            <a:srgbClr val="F96167"/>
          </a:solidFill>
          <a:ln/>
        </p:spPr>
        <p:txBody>
          <a:bodyPr/>
          <a:lstStyle/>
          <a:p>
            <a:endParaRPr lang="fr-FR"/>
          </a:p>
        </p:txBody>
      </p:sp>
      <p:sp>
        <p:nvSpPr>
          <p:cNvPr id="20" name="Text 18"/>
          <p:cNvSpPr/>
          <p:nvPr/>
        </p:nvSpPr>
        <p:spPr>
          <a:xfrm>
            <a:off x="365760" y="388620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Shape 19"/>
          <p:cNvSpPr/>
          <p:nvPr/>
        </p:nvSpPr>
        <p:spPr>
          <a:xfrm>
            <a:off x="1097280" y="3886200"/>
            <a:ext cx="7680960" cy="640080"/>
          </a:xfrm>
          <a:prstGeom prst="rect">
            <a:avLst/>
          </a:prstGeom>
          <a:solidFill>
            <a:srgbClr val="F0F4FF"/>
          </a:solidFill>
          <a:ln w="12700">
            <a:solidFill>
              <a:srgbClr val="CADCFC"/>
            </a:solidFill>
            <a:prstDash val="solid"/>
          </a:ln>
        </p:spPr>
        <p:txBody>
          <a:bodyPr/>
          <a:lstStyle/>
          <a:p>
            <a:endParaRPr lang="fr-FR"/>
          </a:p>
        </p:txBody>
      </p:sp>
      <p:sp>
        <p:nvSpPr>
          <p:cNvPr id="22" name="Text 20"/>
          <p:cNvSpPr/>
          <p:nvPr/>
        </p:nvSpPr>
        <p:spPr>
          <a:xfrm>
            <a:off x="1234440" y="3931920"/>
            <a:ext cx="228600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Évaluation</a:t>
            </a:r>
            <a:endParaRPr lang="en-US" sz="1200" dirty="0"/>
          </a:p>
        </p:txBody>
      </p:sp>
      <p:sp>
        <p:nvSpPr>
          <p:cNvPr id="23" name="Text 21"/>
          <p:cNvSpPr/>
          <p:nvPr/>
        </p:nvSpPr>
        <p:spPr>
          <a:xfrm>
            <a:off x="1234440" y="4224528"/>
            <a:ext cx="7406640" cy="274320"/>
          </a:xfrm>
          <a:prstGeom prst="rect">
            <a:avLst/>
          </a:prstGeom>
          <a:noFill/>
          <a:ln/>
        </p:spPr>
        <p:txBody>
          <a:bodyPr wrap="square" rtlCol="0" anchor="ctr"/>
          <a:lstStyle/>
          <a:p>
            <a:pPr marL="0" indent="0">
              <a:buNone/>
            </a:pPr>
            <a:r>
              <a:rPr lang="en-US" sz="1000" dirty="0">
                <a:solidFill>
                  <a:srgbClr val="4A4A6A"/>
                </a:solidFill>
                <a:latin typeface="Calibri" pitchFamily="34" charset="0"/>
                <a:ea typeface="Calibri" pitchFamily="34" charset="-122"/>
                <a:cs typeface="Calibri" pitchFamily="34" charset="-120"/>
              </a:rPr>
              <a:t>Calcul de l'erreur moyenne absolue en % de la valeur foncière réelle sur le jeu de test</a:t>
            </a:r>
            <a:endParaRPr lang="en-US" sz="1000" dirty="0"/>
          </a:p>
        </p:txBody>
      </p:sp>
      <p:sp>
        <p:nvSpPr>
          <p:cNvPr id="24" name="Shape 22"/>
          <p:cNvSpPr/>
          <p:nvPr/>
        </p:nvSpPr>
        <p:spPr>
          <a:xfrm>
            <a:off x="365760" y="4663440"/>
            <a:ext cx="8412480" cy="365760"/>
          </a:xfrm>
          <a:prstGeom prst="rect">
            <a:avLst/>
          </a:prstGeom>
          <a:solidFill>
            <a:srgbClr val="F0F4FF"/>
          </a:solidFill>
          <a:ln/>
        </p:spPr>
        <p:txBody>
          <a:bodyPr/>
          <a:lstStyle/>
          <a:p>
            <a:endParaRPr lang="fr-FR"/>
          </a:p>
        </p:txBody>
      </p:sp>
      <p:sp>
        <p:nvSpPr>
          <p:cNvPr id="25" name="Text 23"/>
          <p:cNvSpPr/>
          <p:nvPr/>
        </p:nvSpPr>
        <p:spPr>
          <a:xfrm>
            <a:off x="548640" y="4709160"/>
            <a:ext cx="8046720" cy="274320"/>
          </a:xfrm>
          <a:prstGeom prst="rect">
            <a:avLst/>
          </a:prstGeom>
          <a:noFill/>
          <a:ln/>
        </p:spPr>
        <p:txBody>
          <a:bodyPr wrap="square" rtlCol="0" anchor="ctr"/>
          <a:lstStyle/>
          <a:p>
            <a:pPr marL="0" indent="0">
              <a:buNone/>
            </a:pPr>
            <a:r>
              <a:rPr lang="en-US" sz="1000" i="1" dirty="0">
                <a:solidFill>
                  <a:srgbClr val="4A4A6A"/>
                </a:solidFill>
                <a:latin typeface="Calibri" pitchFamily="34" charset="0"/>
                <a:ea typeface="Calibri" pitchFamily="34" charset="-122"/>
                <a:cs typeface="Calibri" pitchFamily="34" charset="-120"/>
              </a:rPr>
              <a:t>Librairies utilisées : pandas  •  numpy  •  sklearn (LinearRegression, train_test_split)  •  datetime  •  matplotlib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RÉSULTATS &amp; VALORISATION DU PORTEFEUILLE</a:t>
            </a:r>
            <a:endParaRPr lang="en-US" sz="2200" dirty="0"/>
          </a:p>
        </p:txBody>
      </p:sp>
      <p:sp>
        <p:nvSpPr>
          <p:cNvPr id="4" name="Shape 2"/>
          <p:cNvSpPr/>
          <p:nvPr/>
        </p:nvSpPr>
        <p:spPr>
          <a:xfrm>
            <a:off x="365760" y="1051560"/>
            <a:ext cx="3931920" cy="2286000"/>
          </a:xfrm>
          <a:prstGeom prst="rect">
            <a:avLst/>
          </a:prstGeom>
          <a:solidFill>
            <a:srgbClr val="1E2761"/>
          </a:solidFill>
          <a:ln/>
        </p:spPr>
        <p:txBody>
          <a:bodyPr/>
          <a:lstStyle/>
          <a:p>
            <a:endParaRPr lang="fr-FR"/>
          </a:p>
        </p:txBody>
      </p:sp>
      <p:sp>
        <p:nvSpPr>
          <p:cNvPr id="5" name="Text 3"/>
          <p:cNvSpPr/>
          <p:nvPr/>
        </p:nvSpPr>
        <p:spPr>
          <a:xfrm>
            <a:off x="548640" y="1188720"/>
            <a:ext cx="3566160" cy="36576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ERREUR MOYENNE</a:t>
            </a:r>
            <a:endParaRPr lang="en-US" sz="1200" dirty="0"/>
          </a:p>
        </p:txBody>
      </p:sp>
      <p:sp>
        <p:nvSpPr>
          <p:cNvPr id="6" name="Text 4"/>
          <p:cNvSpPr/>
          <p:nvPr/>
        </p:nvSpPr>
        <p:spPr>
          <a:xfrm>
            <a:off x="548640" y="1600200"/>
            <a:ext cx="3566160" cy="1005840"/>
          </a:xfrm>
          <a:prstGeom prst="rect">
            <a:avLst/>
          </a:prstGeom>
          <a:noFill/>
          <a:ln/>
        </p:spPr>
        <p:txBody>
          <a:bodyPr wrap="square" rtlCol="0" anchor="ctr"/>
          <a:lstStyle/>
          <a:p>
            <a:pPr marL="0" indent="0" algn="ctr">
              <a:buNone/>
            </a:pPr>
            <a:r>
              <a:rPr lang="en-US" sz="6000" b="1" dirty="0">
                <a:solidFill>
                  <a:srgbClr val="F96167"/>
                </a:solidFill>
                <a:latin typeface="Calibri" pitchFamily="34" charset="0"/>
                <a:ea typeface="Calibri" pitchFamily="34" charset="-122"/>
                <a:cs typeface="Calibri" pitchFamily="34" charset="-120"/>
              </a:rPr>
              <a:t>8,9%</a:t>
            </a:r>
            <a:endParaRPr lang="en-US" sz="6000" dirty="0"/>
          </a:p>
        </p:txBody>
      </p:sp>
      <p:sp>
        <p:nvSpPr>
          <p:cNvPr id="7" name="Text 5"/>
          <p:cNvSpPr/>
          <p:nvPr/>
        </p:nvSpPr>
        <p:spPr>
          <a:xfrm>
            <a:off x="548640" y="2651760"/>
            <a:ext cx="356616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Objectif &lt; 10% atteint</a:t>
            </a:r>
            <a:endParaRPr lang="en-US" sz="1300" dirty="0"/>
          </a:p>
        </p:txBody>
      </p:sp>
      <p:sp>
        <p:nvSpPr>
          <p:cNvPr id="8" name="Shape 6"/>
          <p:cNvSpPr/>
          <p:nvPr/>
        </p:nvSpPr>
        <p:spPr>
          <a:xfrm>
            <a:off x="4663440" y="1051560"/>
            <a:ext cx="4114800" cy="228600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846320" y="1188720"/>
            <a:ext cx="3749040"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VALORISATION AU 31/12/2022</a:t>
            </a:r>
            <a:endParaRPr lang="en-US" sz="1200" dirty="0"/>
          </a:p>
        </p:txBody>
      </p:sp>
      <p:sp>
        <p:nvSpPr>
          <p:cNvPr id="10" name="Text 8"/>
          <p:cNvSpPr/>
          <p:nvPr/>
        </p:nvSpPr>
        <p:spPr>
          <a:xfrm>
            <a:off x="4846320" y="1691640"/>
            <a:ext cx="2286000" cy="365760"/>
          </a:xfrm>
          <a:prstGeom prst="rect">
            <a:avLst/>
          </a:prstGeom>
          <a:noFill/>
          <a:ln/>
        </p:spPr>
        <p:txBody>
          <a:bodyPr wrap="square" rtlCol="0" anchor="ctr"/>
          <a:lstStyle/>
          <a:p>
            <a:pPr marL="0" indent="0">
              <a:buNone/>
            </a:pPr>
            <a:r>
              <a:rPr lang="en-US" sz="1200" dirty="0">
                <a:solidFill>
                  <a:srgbClr val="4A4A6A"/>
                </a:solidFill>
                <a:latin typeface="Calibri" pitchFamily="34" charset="0"/>
                <a:ea typeface="Calibri" pitchFamily="34" charset="-122"/>
                <a:cs typeface="Calibri" pitchFamily="34" charset="-120"/>
              </a:rPr>
              <a:t>Segment Particuliers</a:t>
            </a:r>
            <a:endParaRPr lang="en-US" sz="1200" dirty="0"/>
          </a:p>
        </p:txBody>
      </p:sp>
      <p:sp>
        <p:nvSpPr>
          <p:cNvPr id="11" name="Text 9"/>
          <p:cNvSpPr/>
          <p:nvPr/>
        </p:nvSpPr>
        <p:spPr>
          <a:xfrm>
            <a:off x="7223760" y="1691640"/>
            <a:ext cx="1371600" cy="365760"/>
          </a:xfrm>
          <a:prstGeom prst="rect">
            <a:avLst/>
          </a:prstGeom>
          <a:noFill/>
          <a:ln/>
        </p:spPr>
        <p:txBody>
          <a:bodyPr wrap="square" rtlCol="0" anchor="ctr"/>
          <a:lstStyle/>
          <a:p>
            <a:pPr marL="0" indent="0" algn="r">
              <a:buNone/>
            </a:pPr>
            <a:r>
              <a:rPr lang="en-US" b="1" dirty="0">
                <a:solidFill>
                  <a:srgbClr val="1E2761"/>
                </a:solidFill>
                <a:latin typeface="Calibri" pitchFamily="34" charset="0"/>
                <a:ea typeface="Calibri" pitchFamily="34" charset="-122"/>
                <a:cs typeface="Calibri" pitchFamily="34" charset="-120"/>
              </a:rPr>
              <a:t>80,3</a:t>
            </a:r>
            <a:r>
              <a:rPr lang="en-US" sz="1800" b="1" dirty="0">
                <a:solidFill>
                  <a:srgbClr val="1E2761"/>
                </a:solidFill>
                <a:latin typeface="Calibri" pitchFamily="34" charset="0"/>
                <a:ea typeface="Calibri" pitchFamily="34" charset="-122"/>
                <a:cs typeface="Calibri" pitchFamily="34" charset="-120"/>
              </a:rPr>
              <a:t> M€</a:t>
            </a:r>
            <a:endParaRPr lang="en-US" sz="1800" dirty="0"/>
          </a:p>
        </p:txBody>
      </p:sp>
      <p:sp>
        <p:nvSpPr>
          <p:cNvPr id="12" name="Text 10"/>
          <p:cNvSpPr/>
          <p:nvPr/>
        </p:nvSpPr>
        <p:spPr>
          <a:xfrm>
            <a:off x="4846320" y="2194560"/>
            <a:ext cx="2286000" cy="365760"/>
          </a:xfrm>
          <a:prstGeom prst="rect">
            <a:avLst/>
          </a:prstGeom>
          <a:noFill/>
          <a:ln/>
        </p:spPr>
        <p:txBody>
          <a:bodyPr wrap="square" rtlCol="0" anchor="ctr"/>
          <a:lstStyle/>
          <a:p>
            <a:pPr marL="0" indent="0">
              <a:buNone/>
            </a:pPr>
            <a:r>
              <a:rPr lang="en-US" sz="1200" dirty="0">
                <a:solidFill>
                  <a:srgbClr val="4A4A6A"/>
                </a:solidFill>
                <a:latin typeface="Calibri" pitchFamily="34" charset="0"/>
                <a:ea typeface="Calibri" pitchFamily="34" charset="-122"/>
                <a:cs typeface="Calibri" pitchFamily="34" charset="-120"/>
              </a:rPr>
              <a:t>Segment Corporate</a:t>
            </a:r>
            <a:endParaRPr lang="en-US" sz="1200" dirty="0"/>
          </a:p>
        </p:txBody>
      </p:sp>
      <p:sp>
        <p:nvSpPr>
          <p:cNvPr id="13" name="Text 11"/>
          <p:cNvSpPr/>
          <p:nvPr/>
        </p:nvSpPr>
        <p:spPr>
          <a:xfrm>
            <a:off x="7223760" y="2194560"/>
            <a:ext cx="1371600" cy="365760"/>
          </a:xfrm>
          <a:prstGeom prst="rect">
            <a:avLst/>
          </a:prstGeom>
          <a:noFill/>
          <a:ln/>
        </p:spPr>
        <p:txBody>
          <a:bodyPr wrap="square" rtlCol="0" anchor="ctr"/>
          <a:lstStyle/>
          <a:p>
            <a:pPr marL="0" indent="0" algn="r">
              <a:buNone/>
            </a:pPr>
            <a:r>
              <a:rPr lang="en-US" b="1" dirty="0">
                <a:solidFill>
                  <a:srgbClr val="F96167"/>
                </a:solidFill>
                <a:latin typeface="Calibri" pitchFamily="34" charset="0"/>
                <a:ea typeface="Calibri" pitchFamily="34" charset="-122"/>
                <a:cs typeface="Calibri" pitchFamily="34" charset="-120"/>
              </a:rPr>
              <a:t>104,4</a:t>
            </a:r>
            <a:r>
              <a:rPr lang="en-US" sz="1800" b="1" dirty="0">
                <a:solidFill>
                  <a:srgbClr val="F96167"/>
                </a:solidFill>
                <a:latin typeface="Calibri" pitchFamily="34" charset="0"/>
                <a:ea typeface="Calibri" pitchFamily="34" charset="-122"/>
                <a:cs typeface="Calibri" pitchFamily="34" charset="-120"/>
              </a:rPr>
              <a:t> M€</a:t>
            </a:r>
            <a:endParaRPr lang="en-US" sz="1800" dirty="0"/>
          </a:p>
        </p:txBody>
      </p:sp>
      <p:sp>
        <p:nvSpPr>
          <p:cNvPr id="14" name="Text 12"/>
          <p:cNvSpPr/>
          <p:nvPr/>
        </p:nvSpPr>
        <p:spPr>
          <a:xfrm>
            <a:off x="4846320" y="2697480"/>
            <a:ext cx="3749040" cy="4572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 Le segment corporate présente la valorisation la plus élevée</a:t>
            </a:r>
            <a:endParaRPr lang="en-US" sz="1100" dirty="0"/>
          </a:p>
        </p:txBody>
      </p:sp>
      <p:sp>
        <p:nvSpPr>
          <p:cNvPr id="15" name="Shape 13"/>
          <p:cNvSpPr/>
          <p:nvPr/>
        </p:nvSpPr>
        <p:spPr>
          <a:xfrm>
            <a:off x="365760" y="3520440"/>
            <a:ext cx="8412480" cy="1371600"/>
          </a:xfrm>
          <a:prstGeom prst="rect">
            <a:avLst/>
          </a:prstGeom>
          <a:solidFill>
            <a:srgbClr val="F0F4FF"/>
          </a:solidFill>
          <a:ln w="12700">
            <a:solidFill>
              <a:srgbClr val="F96167"/>
            </a:solidFill>
            <a:prstDash val="solid"/>
          </a:ln>
        </p:spPr>
        <p:txBody>
          <a:bodyPr/>
          <a:lstStyle/>
          <a:p>
            <a:endParaRPr lang="fr-FR"/>
          </a:p>
        </p:txBody>
      </p:sp>
      <p:sp>
        <p:nvSpPr>
          <p:cNvPr id="16" name="Text 14"/>
          <p:cNvSpPr/>
          <p:nvPr/>
        </p:nvSpPr>
        <p:spPr>
          <a:xfrm>
            <a:off x="548640" y="3611880"/>
            <a:ext cx="8229600"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 Limites à communiquer au client :</a:t>
            </a:r>
            <a:endParaRPr lang="en-US" sz="1200" dirty="0"/>
          </a:p>
        </p:txBody>
      </p:sp>
      <p:sp>
        <p:nvSpPr>
          <p:cNvPr id="17" name="Text 15"/>
          <p:cNvSpPr/>
          <p:nvPr/>
        </p:nvSpPr>
        <p:spPr>
          <a:xfrm>
            <a:off x="548640" y="4005072"/>
            <a:ext cx="8229600" cy="82296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 Marge d'erreur de 8,9% : une différence faible entre segments peut être dans la fourchette d'incertitude
</a:t>
            </a:r>
            <a:endParaRPr lang="en-US" sz="1100" dirty="0"/>
          </a:p>
          <a:p>
            <a:pPr marL="0" indent="0">
              <a:buNone/>
            </a:pPr>
            <a:r>
              <a:rPr lang="en-US" sz="1100" dirty="0">
                <a:solidFill>
                  <a:srgbClr val="4A4A6A"/>
                </a:solidFill>
                <a:latin typeface="Calibri" pitchFamily="34" charset="0"/>
                <a:ea typeface="Calibri" pitchFamily="34" charset="-122"/>
                <a:cs typeface="Calibri" pitchFamily="34" charset="-120"/>
              </a:rPr>
              <a:t>• Données arrêtées en 2021 : la hausse des taux d'intérêt post-2021 n'est pas intégrée au modèle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CLASSIFICATION AUTOMATIQUE : KMEANS</a:t>
            </a:r>
            <a:endParaRPr lang="en-US" sz="2200" dirty="0"/>
          </a:p>
        </p:txBody>
      </p:sp>
      <p:sp>
        <p:nvSpPr>
          <p:cNvPr id="4" name="Shape 2"/>
          <p:cNvSpPr/>
          <p:nvPr/>
        </p:nvSpPr>
        <p:spPr>
          <a:xfrm>
            <a:off x="365760" y="1005840"/>
            <a:ext cx="8412480" cy="73152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548640" y="1097280"/>
            <a:ext cx="8046720" cy="548640"/>
          </a:xfrm>
          <a:prstGeom prst="rect">
            <a:avLst/>
          </a:prstGeom>
          <a:noFill/>
          <a:ln/>
        </p:spPr>
        <p:txBody>
          <a:bodyPr wrap="square"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Besoin de Louise (DGA Corporate) : classifier automatiquement les biens sans enquête téléphonique manuelle</a:t>
            </a:r>
            <a:endParaRPr lang="en-US" sz="1200" dirty="0"/>
          </a:p>
        </p:txBody>
      </p:sp>
      <p:sp>
        <p:nvSpPr>
          <p:cNvPr id="6" name="Text 4"/>
          <p:cNvSpPr/>
          <p:nvPr/>
        </p:nvSpPr>
        <p:spPr>
          <a:xfrm>
            <a:off x="365760" y="1920240"/>
            <a:ext cx="8229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Principe du KMeans :</a:t>
            </a:r>
            <a:endParaRPr lang="en-US" sz="1300" dirty="0"/>
          </a:p>
        </p:txBody>
      </p:sp>
      <p:sp>
        <p:nvSpPr>
          <p:cNvPr id="7" name="Text 5"/>
          <p:cNvSpPr/>
          <p:nvPr/>
        </p:nvSpPr>
        <p:spPr>
          <a:xfrm>
            <a:off x="548640" y="2331720"/>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1. On définit k=2 groupes (appartements / locaux commerciaux)</a:t>
            </a:r>
            <a:endParaRPr lang="en-US" sz="1100" dirty="0"/>
          </a:p>
        </p:txBody>
      </p:sp>
      <p:sp>
        <p:nvSpPr>
          <p:cNvPr id="8" name="Text 6"/>
          <p:cNvSpPr/>
          <p:nvPr/>
        </p:nvSpPr>
        <p:spPr>
          <a:xfrm>
            <a:off x="548640" y="2679192"/>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2. L'algorithme place 2 centroïdes au hasard dans les données</a:t>
            </a:r>
            <a:endParaRPr lang="en-US" sz="1100" dirty="0"/>
          </a:p>
        </p:txBody>
      </p:sp>
      <p:sp>
        <p:nvSpPr>
          <p:cNvPr id="9" name="Text 7"/>
          <p:cNvSpPr/>
          <p:nvPr/>
        </p:nvSpPr>
        <p:spPr>
          <a:xfrm>
            <a:off x="548640" y="3026664"/>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3. Chaque bien est attribué au centroïde le plus proche</a:t>
            </a:r>
            <a:endParaRPr lang="en-US" sz="1100" dirty="0"/>
          </a:p>
        </p:txBody>
      </p:sp>
      <p:sp>
        <p:nvSpPr>
          <p:cNvPr id="10" name="Text 8"/>
          <p:cNvSpPr/>
          <p:nvPr/>
        </p:nvSpPr>
        <p:spPr>
          <a:xfrm>
            <a:off x="548640" y="3374136"/>
            <a:ext cx="8046720" cy="329184"/>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4. Les centroïdes se déplacent vers le centre de leur groupe</a:t>
            </a:r>
            <a:endParaRPr lang="en-US" sz="1100" dirty="0"/>
          </a:p>
        </p:txBody>
      </p:sp>
      <p:sp>
        <p:nvSpPr>
          <p:cNvPr id="11" name="Text 9"/>
          <p:cNvSpPr/>
          <p:nvPr/>
        </p:nvSpPr>
        <p:spPr>
          <a:xfrm>
            <a:off x="548640" y="3721608"/>
            <a:ext cx="8046720" cy="329184"/>
          </a:xfrm>
          <a:prstGeom prst="rect">
            <a:avLst/>
          </a:prstGeom>
          <a:noFill/>
          <a:ln/>
        </p:spPr>
        <p:txBody>
          <a:bodyPr wrap="square"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5. On répète jusqu'à stabilisation — le critère discriminant : le prix au m²</a:t>
            </a:r>
            <a:endParaRPr lang="en-US" sz="1100" dirty="0"/>
          </a:p>
        </p:txBody>
      </p:sp>
      <p:sp>
        <p:nvSpPr>
          <p:cNvPr id="12" name="Shape 10"/>
          <p:cNvSpPr/>
          <p:nvPr/>
        </p:nvSpPr>
        <p:spPr>
          <a:xfrm>
            <a:off x="365760" y="4114800"/>
            <a:ext cx="8412480" cy="822960"/>
          </a:xfrm>
          <a:prstGeom prst="rect">
            <a:avLst/>
          </a:prstGeom>
          <a:solidFill>
            <a:srgbClr val="1E2761"/>
          </a:solidFill>
          <a:ln/>
        </p:spPr>
        <p:txBody>
          <a:bodyPr/>
          <a:lstStyle/>
          <a:p>
            <a:endParaRPr lang="fr-FR"/>
          </a:p>
        </p:txBody>
      </p:sp>
      <p:sp>
        <p:nvSpPr>
          <p:cNvPr id="13" name="Text 11"/>
          <p:cNvSpPr/>
          <p:nvPr/>
        </p:nvSpPr>
        <p:spPr>
          <a:xfrm>
            <a:off x="548640" y="4206240"/>
            <a:ext cx="8046720" cy="64008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Variable discriminante : prix au m²  —  Appartements (prix bas) vs Locaux commerciaux (prix élevé)  —  275 biens classifiés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txBody>
          <a:bodyPr/>
          <a:lstStyle/>
          <a:p>
            <a:endParaRPr lang="fr-FR"/>
          </a:p>
        </p:txBody>
      </p:sp>
      <p:sp>
        <p:nvSpPr>
          <p:cNvPr id="3" name="Text 1"/>
          <p:cNvSpPr/>
          <p:nvPr/>
        </p:nvSpPr>
        <p:spPr>
          <a:xfrm>
            <a:off x="457200" y="13716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CONCLUSIONS &amp; RECOMMANDATIONS</a:t>
            </a:r>
            <a:endParaRPr lang="en-US" sz="2200" dirty="0"/>
          </a:p>
        </p:txBody>
      </p:sp>
      <p:sp>
        <p:nvSpPr>
          <p:cNvPr id="4" name="Shape 2"/>
          <p:cNvSpPr/>
          <p:nvPr/>
        </p:nvSpPr>
        <p:spPr>
          <a:xfrm>
            <a:off x="365760" y="1051560"/>
            <a:ext cx="8412480" cy="1005840"/>
          </a:xfrm>
          <a:prstGeom prst="rect">
            <a:avLst/>
          </a:prstGeom>
          <a:solidFill>
            <a:srgbClr val="F0F4FF"/>
          </a:solidFill>
          <a:ln w="12700">
            <a:solidFill>
              <a:srgbClr val="CADCFC"/>
            </a:solidFill>
            <a:prstDash val="solid"/>
          </a:ln>
        </p:spPr>
        <p:txBody>
          <a:bodyPr/>
          <a:lstStyle/>
          <a:p>
            <a:endParaRPr lang="fr-FR"/>
          </a:p>
        </p:txBody>
      </p:sp>
      <p:sp>
        <p:nvSpPr>
          <p:cNvPr id="5" name="Text 3"/>
          <p:cNvSpPr/>
          <p:nvPr/>
        </p:nvSpPr>
        <p:spPr>
          <a:xfrm>
            <a:off x="457200" y="1143000"/>
            <a:ext cx="640080" cy="640080"/>
          </a:xfrm>
          <a:prstGeom prst="rect">
            <a:avLst/>
          </a:prstGeom>
          <a:noFill/>
          <a:ln/>
        </p:spPr>
        <p:txBody>
          <a:bodyPr wrap="square" rtlCol="0" anchor="ctr"/>
          <a:lstStyle/>
          <a:p>
            <a:pPr marL="0" indent="0">
              <a:buNone/>
            </a:pPr>
            <a:endParaRPr lang="en-US" sz="2400" dirty="0"/>
          </a:p>
        </p:txBody>
      </p:sp>
      <p:sp>
        <p:nvSpPr>
          <p:cNvPr id="6" name="Text 4"/>
          <p:cNvSpPr/>
          <p:nvPr/>
        </p:nvSpPr>
        <p:spPr>
          <a:xfrm>
            <a:off x="1188720" y="1124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Marché en hausse</a:t>
            </a:r>
            <a:endParaRPr lang="en-US" sz="1300" dirty="0"/>
          </a:p>
        </p:txBody>
      </p:sp>
      <p:sp>
        <p:nvSpPr>
          <p:cNvPr id="7" name="Text 5"/>
          <p:cNvSpPr/>
          <p:nvPr/>
        </p:nvSpPr>
        <p:spPr>
          <a:xfrm>
            <a:off x="1188720" y="1554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+12,4% entre 2017 et 2020, légère inflexion en 2021 (effet COVID). Disparités importantes entre arrondissements.</a:t>
            </a:r>
            <a:endParaRPr lang="en-US" sz="1100" dirty="0"/>
          </a:p>
        </p:txBody>
      </p:sp>
      <p:sp>
        <p:nvSpPr>
          <p:cNvPr id="8" name="Shape 6"/>
          <p:cNvSpPr/>
          <p:nvPr/>
        </p:nvSpPr>
        <p:spPr>
          <a:xfrm>
            <a:off x="365760" y="2194560"/>
            <a:ext cx="8412480" cy="1005840"/>
          </a:xfrm>
          <a:prstGeom prst="rect">
            <a:avLst/>
          </a:prstGeom>
          <a:solidFill>
            <a:srgbClr val="F0F4FF"/>
          </a:solidFill>
          <a:ln w="12700">
            <a:solidFill>
              <a:srgbClr val="CADCFC"/>
            </a:solidFill>
            <a:prstDash val="solid"/>
          </a:ln>
        </p:spPr>
        <p:txBody>
          <a:bodyPr/>
          <a:lstStyle/>
          <a:p>
            <a:endParaRPr lang="fr-FR"/>
          </a:p>
        </p:txBody>
      </p:sp>
      <p:sp>
        <p:nvSpPr>
          <p:cNvPr id="9" name="Text 7"/>
          <p:cNvSpPr/>
          <p:nvPr/>
        </p:nvSpPr>
        <p:spPr>
          <a:xfrm>
            <a:off x="457200" y="2286000"/>
            <a:ext cx="640080" cy="640080"/>
          </a:xfrm>
          <a:prstGeom prst="rect">
            <a:avLst/>
          </a:prstGeom>
          <a:noFill/>
          <a:ln/>
        </p:spPr>
        <p:txBody>
          <a:bodyPr wrap="square" rtlCol="0" anchor="ctr"/>
          <a:lstStyle/>
          <a:p>
            <a:pPr marL="0" indent="0">
              <a:buNone/>
            </a:pPr>
            <a:endParaRPr lang="en-US" sz="2400" dirty="0"/>
          </a:p>
        </p:txBody>
      </p:sp>
      <p:sp>
        <p:nvSpPr>
          <p:cNvPr id="10" name="Text 8"/>
          <p:cNvSpPr/>
          <p:nvPr/>
        </p:nvSpPr>
        <p:spPr>
          <a:xfrm>
            <a:off x="1188720" y="2267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Modèle performant</a:t>
            </a:r>
            <a:endParaRPr lang="en-US" sz="1300" dirty="0"/>
          </a:p>
        </p:txBody>
      </p:sp>
      <p:sp>
        <p:nvSpPr>
          <p:cNvPr id="11" name="Text 9"/>
          <p:cNvSpPr/>
          <p:nvPr/>
        </p:nvSpPr>
        <p:spPr>
          <a:xfrm>
            <a:off x="1188720" y="2697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8,9% d'erreur moyenne — objectif &lt; 10% atteint. Le segment corporate présente la valorisation la plus élevée au 31/12/2022.</a:t>
            </a:r>
            <a:endParaRPr lang="en-US" sz="1100" dirty="0"/>
          </a:p>
        </p:txBody>
      </p:sp>
      <p:sp>
        <p:nvSpPr>
          <p:cNvPr id="12" name="Shape 10"/>
          <p:cNvSpPr/>
          <p:nvPr/>
        </p:nvSpPr>
        <p:spPr>
          <a:xfrm>
            <a:off x="365760" y="3337560"/>
            <a:ext cx="8412480" cy="1005840"/>
          </a:xfrm>
          <a:prstGeom prst="rect">
            <a:avLst/>
          </a:prstGeom>
          <a:solidFill>
            <a:srgbClr val="F0F4FF"/>
          </a:solidFill>
          <a:ln w="12700">
            <a:solidFill>
              <a:srgbClr val="CADCFC"/>
            </a:solidFill>
            <a:prstDash val="solid"/>
          </a:ln>
        </p:spPr>
        <p:txBody>
          <a:bodyPr/>
          <a:lstStyle/>
          <a:p>
            <a:endParaRPr lang="fr-FR"/>
          </a:p>
        </p:txBody>
      </p:sp>
      <p:sp>
        <p:nvSpPr>
          <p:cNvPr id="13" name="Text 11"/>
          <p:cNvSpPr/>
          <p:nvPr/>
        </p:nvSpPr>
        <p:spPr>
          <a:xfrm>
            <a:off x="457200" y="3429000"/>
            <a:ext cx="640080" cy="640080"/>
          </a:xfrm>
          <a:prstGeom prst="rect">
            <a:avLst/>
          </a:prstGeom>
          <a:noFill/>
          <a:ln/>
        </p:spPr>
        <p:txBody>
          <a:bodyPr wrap="square" rtlCol="0" anchor="ctr"/>
          <a:lstStyle/>
          <a:p>
            <a:pPr marL="0" indent="0">
              <a:buNone/>
            </a:pPr>
            <a:endParaRPr lang="en-US" sz="2400" dirty="0"/>
          </a:p>
        </p:txBody>
      </p:sp>
      <p:sp>
        <p:nvSpPr>
          <p:cNvPr id="14" name="Text 12"/>
          <p:cNvSpPr/>
          <p:nvPr/>
        </p:nvSpPr>
        <p:spPr>
          <a:xfrm>
            <a:off x="1188720" y="3410712"/>
            <a:ext cx="32004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Classification fiable</a:t>
            </a:r>
            <a:endParaRPr lang="en-US" sz="1300" dirty="0"/>
          </a:p>
        </p:txBody>
      </p:sp>
      <p:sp>
        <p:nvSpPr>
          <p:cNvPr id="15" name="Text 13"/>
          <p:cNvSpPr/>
          <p:nvPr/>
        </p:nvSpPr>
        <p:spPr>
          <a:xfrm>
            <a:off x="1188720" y="3840480"/>
            <a:ext cx="7406640" cy="411480"/>
          </a:xfrm>
          <a:prstGeom prst="rect">
            <a:avLst/>
          </a:prstGeom>
          <a:noFill/>
          <a:ln/>
        </p:spPr>
        <p:txBody>
          <a:bodyPr wrap="square" rtlCol="0" anchor="ctr"/>
          <a:lstStyle/>
          <a:p>
            <a:pPr marL="0" indent="0">
              <a:buNone/>
            </a:pPr>
            <a:r>
              <a:rPr lang="en-US" sz="1100" dirty="0">
                <a:solidFill>
                  <a:srgbClr val="4A4A6A"/>
                </a:solidFill>
                <a:latin typeface="Calibri" pitchFamily="34" charset="0"/>
                <a:ea typeface="Calibri" pitchFamily="34" charset="-122"/>
                <a:cs typeface="Calibri" pitchFamily="34" charset="-120"/>
              </a:rPr>
              <a:t>KMeans classe correctement appartements et locaux commerciaux sur la base du prix au m². Gain de temps opérationnel pour les équipes de Louise.</a:t>
            </a:r>
            <a:endParaRPr lang="en-US" sz="1100" dirty="0"/>
          </a:p>
        </p:txBody>
      </p:sp>
      <p:sp>
        <p:nvSpPr>
          <p:cNvPr id="16" name="Shape 14"/>
          <p:cNvSpPr/>
          <p:nvPr/>
        </p:nvSpPr>
        <p:spPr>
          <a:xfrm>
            <a:off x="365760" y="4480560"/>
            <a:ext cx="8412480" cy="502920"/>
          </a:xfrm>
          <a:prstGeom prst="rect">
            <a:avLst/>
          </a:prstGeom>
          <a:solidFill>
            <a:srgbClr val="F96167"/>
          </a:solidFill>
          <a:ln/>
        </p:spPr>
        <p:txBody>
          <a:bodyPr/>
          <a:lstStyle/>
          <a:p>
            <a:endParaRPr lang="fr-FR"/>
          </a:p>
        </p:txBody>
      </p:sp>
      <p:sp>
        <p:nvSpPr>
          <p:cNvPr id="17" name="Text 15"/>
          <p:cNvSpPr/>
          <p:nvPr/>
        </p:nvSpPr>
        <p:spPr>
          <a:xfrm>
            <a:off x="548640" y="4553712"/>
            <a:ext cx="8229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Prochaines étapes : intégration données 2022 · test Random Forest/XGBoost · granularité par quartier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fr-FR"/>
          </a:p>
        </p:txBody>
      </p:sp>
      <p:sp>
        <p:nvSpPr>
          <p:cNvPr id="3" name="Shape 1"/>
          <p:cNvSpPr/>
          <p:nvPr/>
        </p:nvSpPr>
        <p:spPr>
          <a:xfrm>
            <a:off x="0" y="3840480"/>
            <a:ext cx="9144000" cy="1303020"/>
          </a:xfrm>
          <a:prstGeom prst="rect">
            <a:avLst/>
          </a:prstGeom>
          <a:solidFill>
            <a:srgbClr val="F96167"/>
          </a:solidFill>
          <a:ln/>
        </p:spPr>
        <p:txBody>
          <a:bodyPr/>
          <a:lstStyle/>
          <a:p>
            <a:endParaRPr lang="fr-FR"/>
          </a:p>
        </p:txBody>
      </p:sp>
      <p:sp>
        <p:nvSpPr>
          <p:cNvPr id="4" name="Text 2"/>
          <p:cNvSpPr/>
          <p:nvPr/>
        </p:nvSpPr>
        <p:spPr>
          <a:xfrm>
            <a:off x="457200" y="1097280"/>
            <a:ext cx="8229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MERCI POUR VOTRE ATTENTION</a:t>
            </a:r>
            <a:endParaRPr lang="en-US" sz="3000" dirty="0"/>
          </a:p>
        </p:txBody>
      </p:sp>
      <p:sp>
        <p:nvSpPr>
          <p:cNvPr id="5" name="Text 3"/>
          <p:cNvSpPr/>
          <p:nvPr/>
        </p:nvSpPr>
        <p:spPr>
          <a:xfrm>
            <a:off x="457200" y="2011680"/>
            <a:ext cx="8229600" cy="640080"/>
          </a:xfrm>
          <a:prstGeom prst="rect">
            <a:avLst/>
          </a:prstGeom>
          <a:noFill/>
          <a:ln/>
        </p:spPr>
        <p:txBody>
          <a:bodyPr wrap="square" rtlCol="0" anchor="ctr"/>
          <a:lstStyle/>
          <a:p>
            <a:pPr marL="0" indent="0" algn="ctr">
              <a:buNone/>
            </a:pPr>
            <a:r>
              <a:rPr lang="en-US" sz="2200" i="1" dirty="0">
                <a:solidFill>
                  <a:srgbClr val="CADCFC"/>
                </a:solidFill>
                <a:latin typeface="Calibri" pitchFamily="34" charset="0"/>
                <a:ea typeface="Calibri" pitchFamily="34" charset="-122"/>
                <a:cs typeface="Calibri" pitchFamily="34" charset="-120"/>
              </a:rPr>
              <a:t>Questions ?</a:t>
            </a:r>
            <a:endParaRPr lang="en-US" sz="2200" dirty="0"/>
          </a:p>
        </p:txBody>
      </p:sp>
      <p:sp>
        <p:nvSpPr>
          <p:cNvPr id="6" name="Text 4"/>
          <p:cNvSpPr/>
          <p:nvPr/>
        </p:nvSpPr>
        <p:spPr>
          <a:xfrm>
            <a:off x="457200" y="3977640"/>
            <a:ext cx="822960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Modestine Bah  |  Business Intelligence Analyst  |  ESN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2490</Words>
  <Application>Microsoft Macintosh PowerPoint</Application>
  <PresentationFormat>Affichage à l'écran (16:9)</PresentationFormat>
  <Paragraphs>159</Paragraphs>
  <Slides>11</Slides>
  <Notes>11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11</vt:i4>
      </vt:variant>
    </vt:vector>
  </HeadingPairs>
  <TitlesOfParts>
    <vt:vector size="1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Fiche de présentation - Les Plus Beaux Logis de Paris</dc:title>
  <dc:subject>PptxGenJS Presentation</dc:subject>
  <dc:creator>PptxGenJS</dc:creator>
  <cp:lastModifiedBy>Modestine Genevieve M A BAH</cp:lastModifiedBy>
  <cp:revision>3</cp:revision>
  <dcterms:created xsi:type="dcterms:W3CDTF">2026-06-08T20:50:07Z</dcterms:created>
  <dcterms:modified xsi:type="dcterms:W3CDTF">2026-06-13T12:26:42Z</dcterms:modified>
</cp:coreProperties>
</file>